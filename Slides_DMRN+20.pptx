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0" r:id="rId2"/>
  </p:sldMasterIdLst>
  <p:notesMasterIdLst>
    <p:notesMasterId r:id="rId29"/>
  </p:notesMasterIdLst>
  <p:sldIdLst>
    <p:sldId id="280" r:id="rId3"/>
    <p:sldId id="275" r:id="rId4"/>
    <p:sldId id="281" r:id="rId5"/>
    <p:sldId id="283" r:id="rId6"/>
    <p:sldId id="282" r:id="rId7"/>
    <p:sldId id="284" r:id="rId8"/>
    <p:sldId id="285" r:id="rId9"/>
    <p:sldId id="286" r:id="rId10"/>
    <p:sldId id="287" r:id="rId11"/>
    <p:sldId id="305" r:id="rId12"/>
    <p:sldId id="289" r:id="rId13"/>
    <p:sldId id="291" r:id="rId14"/>
    <p:sldId id="292" r:id="rId15"/>
    <p:sldId id="293" r:id="rId16"/>
    <p:sldId id="294" r:id="rId17"/>
    <p:sldId id="297" r:id="rId18"/>
    <p:sldId id="296" r:id="rId19"/>
    <p:sldId id="298" r:id="rId20"/>
    <p:sldId id="299" r:id="rId21"/>
    <p:sldId id="300" r:id="rId22"/>
    <p:sldId id="301" r:id="rId23"/>
    <p:sldId id="302" r:id="rId24"/>
    <p:sldId id="303" r:id="rId25"/>
    <p:sldId id="304" r:id="rId26"/>
    <p:sldId id="307" r:id="rId27"/>
    <p:sldId id="30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2F9D"/>
    <a:srgbClr val="1F37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943B9D-09E4-2A45-8A01-9F2F27DF6188}" v="48" dt="2025-12-15T20:30:06.1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58" autoAdjust="0"/>
    <p:restoredTop sz="94660"/>
  </p:normalViewPr>
  <p:slideViewPr>
    <p:cSldViewPr snapToGrid="0" showGuides="1">
      <p:cViewPr>
        <p:scale>
          <a:sx n="150" d="100"/>
          <a:sy n="150" d="100"/>
        </p:scale>
        <p:origin x="984" y="3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7493A-C4A8-408C-B860-EDADB9F44E02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4D65E-3F1A-46EC-83D2-D3BC40AAC2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6411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4D65E-3F1A-46EC-83D2-D3BC40AAC2F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1636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52869-F9A3-703B-5CD6-560FB4C6D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76E9CC-C523-5180-96DD-08D464A6DB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C3CA9C-3510-036F-55B4-4ECEB20A6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005A0-7D10-28B6-DF20-DE0D37D4EE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4D65E-3F1A-46EC-83D2-D3BC40AAC2F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784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58BCB-F094-9A4C-99C5-6CF971F61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2B862A-1867-75B2-3F90-48AE4345F4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DD4830-6C69-83E5-E9A2-0688F89C26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0B680-CC1C-F4F0-EA4C-0332EB2918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4D65E-3F1A-46EC-83D2-D3BC40AAC2F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5467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0CC96-8A57-706B-F6E0-B33742E11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198D5B-A337-FAF0-E975-A98EA724E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C5A183-00D7-AC4C-997F-E96A484A2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36EE0-78D7-6FB5-69CC-EC4AEF3C4B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4D65E-3F1A-46EC-83D2-D3BC40AAC2F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0160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CC0A1-6888-23BC-CADE-CE1F2149D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CD9E74-2780-9618-9120-44C788686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1EF682-074C-A327-2F9C-F521EEB3F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8A89D-84C7-3339-622D-8CB781B005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4D65E-3F1A-46EC-83D2-D3BC40AAC2F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4837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CB78C-B8F1-A27A-3035-1EC2CD91E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423023-91CD-190E-F4B4-2EDDCC2B7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4CD85C-2E12-530B-EF97-A18FA201C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97459-8EF7-E6B0-609E-32BE0DD53A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4D65E-3F1A-46EC-83D2-D3BC40AAC2F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0920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A2356-23BA-8258-F721-AAED4037D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BA0DDB-C05A-942D-B414-6D923F924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DFF574-F342-4A7D-6B8E-3B3A40CBF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0A207-9C21-975E-7B35-CAF1A43F21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4D65E-3F1A-46EC-83D2-D3BC40AAC2F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49638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A2356-23BA-8258-F721-AAED4037D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BA0DDB-C05A-942D-B414-6D923F924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DFF574-F342-4A7D-6B8E-3B3A40CBF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0A207-9C21-975E-7B35-CAF1A43F21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4D65E-3F1A-46EC-83D2-D3BC40AAC2FF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45301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DF191-1AF5-DA42-027E-CAE32DAFE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774A9-2876-C73A-CABA-E61F486C8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286F2F-03AA-EE9C-31C9-4A9AB5A09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9A44B-AA7C-9757-9F93-9A5350C551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4D65E-3F1A-46EC-83D2-D3BC40AAC2F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4972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CF922-70AD-3DB1-3084-086AC868C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06CA68-348F-29C9-1826-11FF3B3AF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01FCC5-61A5-9728-C9FF-3ECEE8715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E5460-FD64-7703-8E2B-CCAA81663A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4D65E-3F1A-46EC-83D2-D3BC40AAC2F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511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CD3A4-DD00-8E8A-B9A3-92645C542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1E1B35-BC71-39FA-E5EC-230A31990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70B00B-2E54-179F-9240-B4F2A7B0E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15B26-DFEB-FE41-D143-B3AD9FF7C5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4D65E-3F1A-46EC-83D2-D3BC40AAC2F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17821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48FAB-F76B-097E-0A19-AEE3B9665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E868F8-BD07-2C4C-BA68-18B870CEF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8107A7-847B-6929-0E3A-0226E25B33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E5455-3920-87DC-303C-EF73C25D27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4D65E-3F1A-46EC-83D2-D3BC40AAC2FF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66998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B2406-DA21-1BD6-AD4E-5CE6D4E3E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6B944D-AC43-5554-4E27-980057A72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77B7AC-AA03-18A8-4DF5-1793E5D51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C13DE-EB70-E1F6-ED40-B8A8828E10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4D65E-3F1A-46EC-83D2-D3BC40AAC2FF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8796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7C8D4-AB39-1531-7C8D-1C4F2533C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B5C84D-05D1-763B-AF1A-8547BF067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06C452-D082-7499-5B10-07FA6BBD2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F86CC-5464-8676-068B-275CA75521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4D65E-3F1A-46EC-83D2-D3BC40AAC2FF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48556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7C8D4-AB39-1531-7C8D-1C4F2533C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B5C84D-05D1-763B-AF1A-8547BF067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06C452-D082-7499-5B10-07FA6BBD2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F86CC-5464-8676-068B-275CA75521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4D65E-3F1A-46EC-83D2-D3BC40AAC2FF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30753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7C8D4-AB39-1531-7C8D-1C4F2533C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B5C84D-05D1-763B-AF1A-8547BF067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06C452-D082-7499-5B10-07FA6BBD2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F86CC-5464-8676-068B-275CA75521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4D65E-3F1A-46EC-83D2-D3BC40AAC2FF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99539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6357A-1ADE-F7BB-A9F9-6DE6BBACF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F3309F-00D8-A9E3-CEDF-4F532FD76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9CD20A-A90F-9686-2519-F8B96E0FD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9617E-EB8D-4125-1076-E6D68CE263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4D65E-3F1A-46EC-83D2-D3BC40AAC2FF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94571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8695B-2D86-9F48-962B-B04107EFE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BDE30F-3250-3615-E344-4AFB9EC8F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96DF9A-414E-C279-EA59-95D942446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B85B6-D989-0C83-3F01-77D8F4A261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4D65E-3F1A-46EC-83D2-D3BC40AAC2FF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2310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4101E-72D5-82CE-A83D-CBAB470E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473966-E463-65D1-4293-D43E54AEC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1AA931-750D-C388-17F7-632BF9724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E7FC9-8E3B-17B2-F600-781A4B1C2B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4D65E-3F1A-46EC-83D2-D3BC40AAC2FF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5100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4101E-72D5-82CE-A83D-CBAB470E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473966-E463-65D1-4293-D43E54AEC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1AA931-750D-C388-17F7-632BF9724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E7FC9-8E3B-17B2-F600-781A4B1C2B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4D65E-3F1A-46EC-83D2-D3BC40AAC2FF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38816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4101E-72D5-82CE-A83D-CBAB470E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473966-E463-65D1-4293-D43E54AEC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1AA931-750D-C388-17F7-632BF9724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E7FC9-8E3B-17B2-F600-781A4B1C2B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4D65E-3F1A-46EC-83D2-D3BC40AAC2FF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59083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E55F5-E595-506F-5EB8-C8608CC44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CE1366-8D08-4317-0E57-997BF90A7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29FA7F-D5F6-AEB5-4CCE-40E742BB3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D6892-1469-7184-9C16-A40A40EC4E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4D65E-3F1A-46EC-83D2-D3BC40AAC2FF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7953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E55F5-E595-506F-5EB8-C8608CC44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CE1366-8D08-4317-0E57-997BF90A7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29FA7F-D5F6-AEB5-4CCE-40E742BB3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D6892-1469-7184-9C16-A40A40EC4E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4D65E-3F1A-46EC-83D2-D3BC40AAC2FF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92047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E0234-6D8A-5AF0-5CF4-2CAF72043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0EE09-2D1A-9EB0-92AC-8AFE88535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6C9F2F-C48D-AD51-F708-B401C379F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9A4EA-61FD-5C7A-C3AF-C7F719D8F9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4D65E-3F1A-46EC-83D2-D3BC40AAC2FF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06828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0FE5F-3650-1A57-C99C-F5DCE9B8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6E0548-EF8C-BD97-DD97-88FB97272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6D44D8-EBB9-58A1-05D8-FC660CDD8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DD1E0-DDA7-CBA8-8AE0-E480585F59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4D65E-3F1A-46EC-83D2-D3BC40AAC2FF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7704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emf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door&#10;&#10;Description automatically generated">
            <a:extLst>
              <a:ext uri="{FF2B5EF4-FFF2-40B4-BE49-F238E27FC236}">
                <a16:creationId xmlns:a16="http://schemas.microsoft.com/office/drawing/2014/main" id="{ADC01216-960B-4EA6-A786-EB766DBB6D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16464"/>
            <a:ext cx="12192000" cy="8114805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pic>
        <p:nvPicPr>
          <p:cNvPr id="3" name="Picture 2" descr="A picture containing object&#10;&#10;Description automatically generated">
            <a:extLst>
              <a:ext uri="{FF2B5EF4-FFF2-40B4-BE49-F238E27FC236}">
                <a16:creationId xmlns:a16="http://schemas.microsoft.com/office/drawing/2014/main" id="{397138AF-A9B6-4E83-90C3-A645C488AB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955" y="2089235"/>
            <a:ext cx="4440089" cy="267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180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colum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idx="11" hasCustomPrompt="1"/>
          </p:nvPr>
        </p:nvSpPr>
        <p:spPr>
          <a:xfrm>
            <a:off x="1066800" y="3190341"/>
            <a:ext cx="4880754" cy="23717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err="1"/>
              <a:t>Cae</a:t>
            </a:r>
            <a:r>
              <a:rPr lang="en-US" dirty="0"/>
              <a:t>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molorit</a:t>
            </a:r>
            <a:r>
              <a:rPr lang="en-US" dirty="0"/>
              <a:t> </a:t>
            </a:r>
            <a:r>
              <a:rPr lang="en-US" dirty="0" err="1"/>
              <a:t>atempore</a:t>
            </a:r>
            <a:r>
              <a:rPr lang="en-US" dirty="0"/>
              <a:t> </a:t>
            </a:r>
            <a:r>
              <a:rPr lang="en-US" dirty="0" err="1"/>
              <a:t>siti</a:t>
            </a:r>
            <a:r>
              <a:rPr lang="en-US" dirty="0"/>
              <a:t> </a:t>
            </a:r>
            <a:r>
              <a:rPr lang="en-US" dirty="0" err="1"/>
              <a:t>blatem</a:t>
            </a:r>
            <a:r>
              <a:rPr lang="en-US" dirty="0"/>
              <a:t> qui </a:t>
            </a:r>
            <a:r>
              <a:rPr lang="en-US" dirty="0" err="1"/>
              <a:t>dolorumqui</a:t>
            </a:r>
            <a:r>
              <a:rPr lang="en-US" dirty="0"/>
              <a:t> </a:t>
            </a:r>
            <a:r>
              <a:rPr lang="en-US" dirty="0" err="1"/>
              <a:t>omni</a:t>
            </a:r>
            <a:r>
              <a:rPr lang="en-US" dirty="0"/>
              <a:t> </a:t>
            </a:r>
            <a:r>
              <a:rPr lang="en-US" dirty="0" err="1"/>
              <a:t>audanti</a:t>
            </a:r>
            <a:r>
              <a:rPr lang="en-US" dirty="0"/>
              <a:t> que </a:t>
            </a:r>
            <a:r>
              <a:rPr lang="en-US" dirty="0" err="1"/>
              <a:t>simaios</a:t>
            </a:r>
            <a:r>
              <a:rPr lang="en-US" dirty="0"/>
              <a:t> </a:t>
            </a:r>
            <a:r>
              <a:rPr lang="en-US" dirty="0" err="1"/>
              <a:t>maximustio</a:t>
            </a:r>
            <a:r>
              <a:rPr lang="en-US" dirty="0"/>
              <a:t>. </a:t>
            </a:r>
            <a:r>
              <a:rPr lang="en-US" dirty="0" err="1"/>
              <a:t>Itae</a:t>
            </a:r>
            <a:r>
              <a:rPr lang="en-US" dirty="0"/>
              <a:t> </a:t>
            </a:r>
            <a:r>
              <a:rPr lang="en-US" dirty="0" err="1"/>
              <a:t>dolupta</a:t>
            </a:r>
            <a:r>
              <a:rPr lang="en-US" dirty="0"/>
              <a:t> quam, </a:t>
            </a:r>
            <a:r>
              <a:rPr lang="en-US" dirty="0" err="1"/>
              <a:t>consequae</a:t>
            </a:r>
            <a:r>
              <a:rPr lang="en-US" dirty="0"/>
              <a:t> dis </a:t>
            </a:r>
            <a:r>
              <a:rPr lang="en-US" dirty="0" err="1"/>
              <a:t>ento</a:t>
            </a:r>
            <a:r>
              <a:rPr lang="en-US" dirty="0"/>
              <a:t> </a:t>
            </a:r>
            <a:r>
              <a:rPr lang="en-US" dirty="0" err="1"/>
              <a:t>blacidusania</a:t>
            </a:r>
            <a:r>
              <a:rPr lang="en-US" dirty="0"/>
              <a:t> </a:t>
            </a:r>
            <a:r>
              <a:rPr lang="en-US" dirty="0" err="1"/>
              <a:t>sequiae</a:t>
            </a:r>
            <a:r>
              <a:rPr lang="en-US" dirty="0"/>
              <a:t> con </a:t>
            </a:r>
            <a:r>
              <a:rPr lang="en-US" dirty="0" err="1"/>
              <a:t>estisit</a:t>
            </a:r>
            <a:r>
              <a:rPr lang="en-US" dirty="0"/>
              <a:t> </a:t>
            </a:r>
            <a:r>
              <a:rPr lang="en-US" dirty="0" err="1"/>
              <a:t>volorum</a:t>
            </a:r>
            <a:r>
              <a:rPr lang="en-US" dirty="0"/>
              <a:t> </a:t>
            </a:r>
            <a:r>
              <a:rPr lang="en-US" dirty="0" err="1"/>
              <a:t>illorumqui</a:t>
            </a:r>
            <a:r>
              <a:rPr lang="en-US" dirty="0"/>
              <a:t> </a:t>
            </a:r>
            <a:r>
              <a:rPr lang="en-US" dirty="0" err="1"/>
              <a:t>rehent</a:t>
            </a:r>
            <a:r>
              <a:rPr lang="en-US" dirty="0"/>
              <a:t> </a:t>
            </a:r>
            <a:r>
              <a:rPr lang="en-US" dirty="0" err="1"/>
              <a:t>magnis</a:t>
            </a:r>
            <a:r>
              <a:rPr lang="en-US" dirty="0"/>
              <a:t> et,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sitam</a:t>
            </a:r>
            <a:r>
              <a:rPr lang="en-US" dirty="0"/>
              <a:t>, </a:t>
            </a:r>
            <a:r>
              <a:rPr lang="en-US" dirty="0" err="1"/>
              <a:t>untus</a:t>
            </a:r>
            <a:r>
              <a:rPr lang="en-US" dirty="0"/>
              <a:t> et </a:t>
            </a:r>
            <a:r>
              <a:rPr lang="en-US" dirty="0" err="1"/>
              <a:t>ullantibusam</a:t>
            </a:r>
            <a:r>
              <a:rPr lang="en-US" dirty="0"/>
              <a:t> </a:t>
            </a:r>
            <a:r>
              <a:rPr lang="en-US" dirty="0" err="1"/>
              <a:t>adi</a:t>
            </a:r>
            <a:r>
              <a:rPr lang="en-US" dirty="0"/>
              <a:t> </a:t>
            </a:r>
            <a:r>
              <a:rPr lang="en-US" dirty="0" err="1"/>
              <a:t>officae</a:t>
            </a:r>
            <a:r>
              <a:rPr lang="en-US" dirty="0"/>
              <a:t> </a:t>
            </a:r>
            <a:r>
              <a:rPr lang="en-US" dirty="0" err="1"/>
              <a:t>sincia</a:t>
            </a:r>
            <a:r>
              <a:rPr lang="en-US" dirty="0"/>
              <a:t> </a:t>
            </a:r>
            <a:r>
              <a:rPr lang="en-US" dirty="0" err="1"/>
              <a:t>quias</a:t>
            </a:r>
            <a:r>
              <a:rPr lang="en-US" dirty="0"/>
              <a:t> </a:t>
            </a:r>
            <a:r>
              <a:rPr lang="en-US" dirty="0" err="1"/>
              <a:t>diciisc</a:t>
            </a:r>
            <a:r>
              <a:rPr lang="en-US" dirty="0"/>
              <a:t> </a:t>
            </a:r>
            <a:r>
              <a:rPr lang="en-US" dirty="0" err="1"/>
              <a:t>ipicim</a:t>
            </a:r>
            <a:r>
              <a:rPr lang="en-US" dirty="0"/>
              <a:t> eat.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idx="13" hasCustomPrompt="1"/>
          </p:nvPr>
        </p:nvSpPr>
        <p:spPr>
          <a:xfrm>
            <a:off x="1066800" y="1285336"/>
            <a:ext cx="4880754" cy="19050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3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 err="1"/>
              <a:t>Consequae</a:t>
            </a:r>
            <a:r>
              <a:rPr lang="en-US" dirty="0"/>
              <a:t> dis </a:t>
            </a:r>
            <a:r>
              <a:rPr lang="en-US" dirty="0" err="1"/>
              <a:t>ento</a:t>
            </a:r>
            <a:r>
              <a:rPr lang="en-US" dirty="0"/>
              <a:t> </a:t>
            </a:r>
            <a:r>
              <a:rPr lang="en-US" dirty="0" err="1"/>
              <a:t>blacidusania</a:t>
            </a:r>
            <a:r>
              <a:rPr lang="en-US" dirty="0"/>
              <a:t> </a:t>
            </a:r>
            <a:r>
              <a:rPr lang="en-US" dirty="0" err="1"/>
              <a:t>sequiae</a:t>
            </a:r>
            <a:r>
              <a:rPr lang="en-US" dirty="0"/>
              <a:t> con </a:t>
            </a:r>
            <a:r>
              <a:rPr lang="en-US" dirty="0" err="1"/>
              <a:t>estisit</a:t>
            </a:r>
            <a:r>
              <a:rPr lang="en-US" dirty="0"/>
              <a:t> </a:t>
            </a:r>
            <a:r>
              <a:rPr lang="en-US" dirty="0" err="1"/>
              <a:t>volorum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idx="14"/>
          </p:nvPr>
        </p:nvSpPr>
        <p:spPr>
          <a:xfrm>
            <a:off x="6353175" y="1257490"/>
            <a:ext cx="4780793" cy="4304581"/>
          </a:xfrm>
          <a:prstGeom prst="rect">
            <a:avLst/>
          </a:prstGeom>
          <a:blipFill>
            <a:blip r:embed="rId2"/>
            <a:stretch>
              <a:fillRect l="-19296" t="-873" r="-18450" b="-251"/>
            </a:stretch>
          </a:blipFill>
        </p:spPr>
        <p:txBody>
          <a:bodyPr vert="horz" lIns="91440" tIns="45720" rIns="91440" bIns="45720" rtlCol="0">
            <a:noAutofit/>
          </a:bodyPr>
          <a:lstStyle>
            <a:lvl1pPr>
              <a:defRPr sz="340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409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/>
          <p:cNvSpPr>
            <a:spLocks noGrp="1"/>
          </p:cNvSpPr>
          <p:nvPr>
            <p:ph idx="11" hasCustomPrompt="1"/>
          </p:nvPr>
        </p:nvSpPr>
        <p:spPr>
          <a:xfrm>
            <a:off x="1064859" y="3190875"/>
            <a:ext cx="4880754" cy="23717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err="1"/>
              <a:t>Cae</a:t>
            </a:r>
            <a:r>
              <a:rPr lang="en-US" dirty="0"/>
              <a:t>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molorit</a:t>
            </a:r>
            <a:r>
              <a:rPr lang="en-US" dirty="0"/>
              <a:t> </a:t>
            </a:r>
            <a:r>
              <a:rPr lang="en-US" dirty="0" err="1"/>
              <a:t>atempore</a:t>
            </a:r>
            <a:r>
              <a:rPr lang="en-US" dirty="0"/>
              <a:t> </a:t>
            </a:r>
            <a:r>
              <a:rPr lang="en-US" dirty="0" err="1"/>
              <a:t>siti</a:t>
            </a:r>
            <a:r>
              <a:rPr lang="en-US" dirty="0"/>
              <a:t> </a:t>
            </a:r>
            <a:r>
              <a:rPr lang="en-US" dirty="0" err="1"/>
              <a:t>blatem</a:t>
            </a:r>
            <a:r>
              <a:rPr lang="en-US" dirty="0"/>
              <a:t> qui </a:t>
            </a:r>
            <a:r>
              <a:rPr lang="en-US" dirty="0" err="1"/>
              <a:t>dolorumqui</a:t>
            </a:r>
            <a:r>
              <a:rPr lang="en-US" dirty="0"/>
              <a:t> </a:t>
            </a:r>
            <a:r>
              <a:rPr lang="en-US" dirty="0" err="1"/>
              <a:t>omni</a:t>
            </a:r>
            <a:r>
              <a:rPr lang="en-US" dirty="0"/>
              <a:t> </a:t>
            </a:r>
            <a:r>
              <a:rPr lang="en-US" dirty="0" err="1"/>
              <a:t>audanti</a:t>
            </a:r>
            <a:r>
              <a:rPr lang="en-US" dirty="0"/>
              <a:t> que </a:t>
            </a:r>
            <a:r>
              <a:rPr lang="en-US" dirty="0" err="1"/>
              <a:t>simaios</a:t>
            </a:r>
            <a:r>
              <a:rPr lang="en-US" dirty="0"/>
              <a:t> </a:t>
            </a:r>
            <a:r>
              <a:rPr lang="en-US" dirty="0" err="1"/>
              <a:t>maximustio</a:t>
            </a:r>
            <a:r>
              <a:rPr lang="en-US" dirty="0"/>
              <a:t>. </a:t>
            </a:r>
            <a:r>
              <a:rPr lang="en-US" dirty="0" err="1"/>
              <a:t>Itae</a:t>
            </a:r>
            <a:r>
              <a:rPr lang="en-US" dirty="0"/>
              <a:t> </a:t>
            </a:r>
            <a:r>
              <a:rPr lang="en-US" dirty="0" err="1"/>
              <a:t>dolupta</a:t>
            </a:r>
            <a:r>
              <a:rPr lang="en-US" dirty="0"/>
              <a:t> quam, </a:t>
            </a:r>
            <a:r>
              <a:rPr lang="en-US" dirty="0" err="1"/>
              <a:t>consequae</a:t>
            </a:r>
            <a:r>
              <a:rPr lang="en-US" dirty="0"/>
              <a:t> dis </a:t>
            </a:r>
            <a:r>
              <a:rPr lang="en-US" dirty="0" err="1"/>
              <a:t>ento</a:t>
            </a:r>
            <a:r>
              <a:rPr lang="en-US" dirty="0"/>
              <a:t> </a:t>
            </a:r>
            <a:r>
              <a:rPr lang="en-US" dirty="0" err="1"/>
              <a:t>blacidusania</a:t>
            </a:r>
            <a:r>
              <a:rPr lang="en-US" dirty="0"/>
              <a:t> </a:t>
            </a:r>
            <a:r>
              <a:rPr lang="en-US" dirty="0" err="1"/>
              <a:t>sequiae</a:t>
            </a:r>
            <a:r>
              <a:rPr lang="en-US" dirty="0"/>
              <a:t> con </a:t>
            </a:r>
            <a:r>
              <a:rPr lang="en-US" dirty="0" err="1"/>
              <a:t>estisit</a:t>
            </a:r>
            <a:r>
              <a:rPr lang="en-US" dirty="0"/>
              <a:t> </a:t>
            </a:r>
            <a:r>
              <a:rPr lang="en-US" dirty="0" err="1"/>
              <a:t>volorum</a:t>
            </a:r>
            <a:r>
              <a:rPr lang="en-US" dirty="0"/>
              <a:t> </a:t>
            </a:r>
            <a:r>
              <a:rPr lang="en-US" dirty="0" err="1"/>
              <a:t>illorumqui</a:t>
            </a:r>
            <a:r>
              <a:rPr lang="en-US" dirty="0"/>
              <a:t> </a:t>
            </a:r>
            <a:r>
              <a:rPr lang="en-US" dirty="0" err="1"/>
              <a:t>rehent</a:t>
            </a:r>
            <a:r>
              <a:rPr lang="en-US" dirty="0"/>
              <a:t> </a:t>
            </a:r>
            <a:r>
              <a:rPr lang="en-US" dirty="0" err="1"/>
              <a:t>magnis</a:t>
            </a:r>
            <a:r>
              <a:rPr lang="en-US" dirty="0"/>
              <a:t> et,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sitam</a:t>
            </a:r>
            <a:r>
              <a:rPr lang="en-US" dirty="0"/>
              <a:t>, </a:t>
            </a:r>
            <a:r>
              <a:rPr lang="en-US" dirty="0" err="1"/>
              <a:t>untus</a:t>
            </a:r>
            <a:r>
              <a:rPr lang="en-US" dirty="0"/>
              <a:t> et </a:t>
            </a:r>
            <a:r>
              <a:rPr lang="en-US" dirty="0" err="1"/>
              <a:t>ullantibusam</a:t>
            </a:r>
            <a:r>
              <a:rPr lang="en-US" dirty="0"/>
              <a:t> </a:t>
            </a:r>
            <a:r>
              <a:rPr lang="en-US" dirty="0" err="1"/>
              <a:t>adi</a:t>
            </a:r>
            <a:r>
              <a:rPr lang="en-US" dirty="0"/>
              <a:t> </a:t>
            </a:r>
            <a:r>
              <a:rPr lang="en-US" dirty="0" err="1"/>
              <a:t>officae</a:t>
            </a:r>
            <a:r>
              <a:rPr lang="en-US" dirty="0"/>
              <a:t> </a:t>
            </a:r>
            <a:r>
              <a:rPr lang="en-US" dirty="0" err="1"/>
              <a:t>sincia</a:t>
            </a:r>
            <a:r>
              <a:rPr lang="en-US" dirty="0"/>
              <a:t> </a:t>
            </a:r>
            <a:r>
              <a:rPr lang="en-US" dirty="0" err="1"/>
              <a:t>quias</a:t>
            </a:r>
            <a:r>
              <a:rPr lang="en-US" dirty="0"/>
              <a:t> </a:t>
            </a:r>
            <a:r>
              <a:rPr lang="en-US" dirty="0" err="1"/>
              <a:t>diciisc</a:t>
            </a:r>
            <a:r>
              <a:rPr lang="en-US" dirty="0"/>
              <a:t> </a:t>
            </a:r>
            <a:r>
              <a:rPr lang="en-US" dirty="0" err="1"/>
              <a:t>ipicim</a:t>
            </a:r>
            <a:r>
              <a:rPr lang="en-US" dirty="0"/>
              <a:t> eat.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idx="12" hasCustomPrompt="1"/>
          </p:nvPr>
        </p:nvSpPr>
        <p:spPr>
          <a:xfrm>
            <a:off x="6387322" y="1285870"/>
            <a:ext cx="4880754" cy="43045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err="1"/>
              <a:t>Cae</a:t>
            </a:r>
            <a:r>
              <a:rPr lang="en-US" dirty="0"/>
              <a:t>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molorit</a:t>
            </a:r>
            <a:r>
              <a:rPr lang="en-US" dirty="0"/>
              <a:t> </a:t>
            </a:r>
            <a:r>
              <a:rPr lang="en-US" dirty="0" err="1"/>
              <a:t>atempore</a:t>
            </a:r>
            <a:r>
              <a:rPr lang="en-US" dirty="0"/>
              <a:t> </a:t>
            </a:r>
            <a:r>
              <a:rPr lang="en-US" dirty="0" err="1"/>
              <a:t>siti</a:t>
            </a:r>
            <a:r>
              <a:rPr lang="en-US" dirty="0"/>
              <a:t> </a:t>
            </a:r>
            <a:r>
              <a:rPr lang="en-US" dirty="0" err="1"/>
              <a:t>blatem</a:t>
            </a:r>
            <a:r>
              <a:rPr lang="en-US" dirty="0"/>
              <a:t> qui </a:t>
            </a:r>
            <a:r>
              <a:rPr lang="en-US" dirty="0" err="1"/>
              <a:t>dolorumqui</a:t>
            </a:r>
            <a:r>
              <a:rPr lang="en-US" dirty="0"/>
              <a:t> </a:t>
            </a:r>
            <a:r>
              <a:rPr lang="en-US" dirty="0" err="1"/>
              <a:t>omni</a:t>
            </a:r>
            <a:r>
              <a:rPr lang="en-US" dirty="0"/>
              <a:t> </a:t>
            </a:r>
            <a:r>
              <a:rPr lang="en-US" dirty="0" err="1"/>
              <a:t>audanti</a:t>
            </a:r>
            <a:r>
              <a:rPr lang="en-US" dirty="0"/>
              <a:t> que </a:t>
            </a:r>
            <a:r>
              <a:rPr lang="en-US" dirty="0" err="1"/>
              <a:t>simaios</a:t>
            </a:r>
            <a:r>
              <a:rPr lang="en-US" dirty="0"/>
              <a:t> </a:t>
            </a:r>
            <a:r>
              <a:rPr lang="en-US" dirty="0" err="1"/>
              <a:t>maximustio</a:t>
            </a:r>
            <a:r>
              <a:rPr lang="en-US" dirty="0"/>
              <a:t>. </a:t>
            </a:r>
            <a:r>
              <a:rPr lang="en-US" dirty="0" err="1"/>
              <a:t>Itae</a:t>
            </a:r>
            <a:r>
              <a:rPr lang="en-US" dirty="0"/>
              <a:t> </a:t>
            </a:r>
            <a:r>
              <a:rPr lang="en-US" dirty="0" err="1"/>
              <a:t>dolupta</a:t>
            </a:r>
            <a:r>
              <a:rPr lang="en-US" dirty="0"/>
              <a:t> quam, </a:t>
            </a:r>
            <a:r>
              <a:rPr lang="en-US" dirty="0" err="1"/>
              <a:t>consequae</a:t>
            </a:r>
            <a:r>
              <a:rPr lang="en-US" dirty="0"/>
              <a:t> dis </a:t>
            </a:r>
            <a:r>
              <a:rPr lang="en-US" dirty="0" err="1"/>
              <a:t>ento</a:t>
            </a:r>
            <a:r>
              <a:rPr lang="en-US" dirty="0"/>
              <a:t> </a:t>
            </a:r>
            <a:r>
              <a:rPr lang="en-US" dirty="0" err="1"/>
              <a:t>blacidusania</a:t>
            </a:r>
            <a:r>
              <a:rPr lang="en-US" dirty="0"/>
              <a:t> </a:t>
            </a:r>
            <a:r>
              <a:rPr lang="en-US" dirty="0" err="1"/>
              <a:t>sequiae</a:t>
            </a:r>
            <a:r>
              <a:rPr lang="en-US" dirty="0"/>
              <a:t> con </a:t>
            </a:r>
            <a:r>
              <a:rPr lang="en-US" dirty="0" err="1"/>
              <a:t>estisit</a:t>
            </a:r>
            <a:r>
              <a:rPr lang="en-US" dirty="0"/>
              <a:t> </a:t>
            </a:r>
            <a:r>
              <a:rPr lang="en-US" dirty="0" err="1"/>
              <a:t>volorum</a:t>
            </a:r>
            <a:r>
              <a:rPr lang="en-US" dirty="0"/>
              <a:t> </a:t>
            </a:r>
            <a:r>
              <a:rPr lang="en-US" dirty="0" err="1"/>
              <a:t>illorumqui</a:t>
            </a:r>
            <a:r>
              <a:rPr lang="en-US" dirty="0"/>
              <a:t> </a:t>
            </a:r>
            <a:r>
              <a:rPr lang="en-US" dirty="0" err="1"/>
              <a:t>rehent</a:t>
            </a:r>
            <a:r>
              <a:rPr lang="en-US" dirty="0"/>
              <a:t> </a:t>
            </a:r>
            <a:r>
              <a:rPr lang="en-US" dirty="0" err="1"/>
              <a:t>magnis</a:t>
            </a:r>
            <a:r>
              <a:rPr lang="en-US" dirty="0"/>
              <a:t> et,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sitam</a:t>
            </a:r>
            <a:r>
              <a:rPr lang="en-US" dirty="0"/>
              <a:t>, </a:t>
            </a:r>
            <a:r>
              <a:rPr lang="en-US" dirty="0" err="1"/>
              <a:t>untus</a:t>
            </a:r>
            <a:r>
              <a:rPr lang="en-US" dirty="0"/>
              <a:t> et </a:t>
            </a:r>
            <a:r>
              <a:rPr lang="en-US" dirty="0" err="1"/>
              <a:t>ullantibusam</a:t>
            </a:r>
            <a:r>
              <a:rPr lang="en-US" dirty="0"/>
              <a:t> </a:t>
            </a:r>
            <a:r>
              <a:rPr lang="en-US" dirty="0" err="1"/>
              <a:t>adi</a:t>
            </a:r>
            <a:r>
              <a:rPr lang="en-US" dirty="0"/>
              <a:t> </a:t>
            </a:r>
            <a:r>
              <a:rPr lang="en-US" dirty="0" err="1"/>
              <a:t>officae</a:t>
            </a:r>
            <a:r>
              <a:rPr lang="en-US" dirty="0"/>
              <a:t> </a:t>
            </a:r>
            <a:r>
              <a:rPr lang="en-US" dirty="0" err="1"/>
              <a:t>sincia</a:t>
            </a:r>
            <a:r>
              <a:rPr lang="en-US" dirty="0"/>
              <a:t> </a:t>
            </a:r>
            <a:r>
              <a:rPr lang="en-US" dirty="0" err="1"/>
              <a:t>quias</a:t>
            </a:r>
            <a:r>
              <a:rPr lang="en-US" dirty="0"/>
              <a:t> </a:t>
            </a:r>
            <a:r>
              <a:rPr lang="en-US" dirty="0" err="1"/>
              <a:t>diciisc</a:t>
            </a:r>
            <a:r>
              <a:rPr lang="en-US" dirty="0"/>
              <a:t> </a:t>
            </a:r>
            <a:r>
              <a:rPr lang="en-US" dirty="0" err="1"/>
              <a:t>ipicim</a:t>
            </a:r>
            <a:r>
              <a:rPr lang="en-US" dirty="0"/>
              <a:t> eat.</a:t>
            </a:r>
          </a:p>
          <a:p>
            <a:pPr lvl="0"/>
            <a:r>
              <a:rPr lang="en-US" dirty="0" err="1"/>
              <a:t>Quiati</a:t>
            </a:r>
            <a:r>
              <a:rPr lang="en-US" dirty="0"/>
              <a:t> </a:t>
            </a:r>
            <a:r>
              <a:rPr lang="en-US" dirty="0" err="1"/>
              <a:t>atiaepe</a:t>
            </a:r>
            <a:r>
              <a:rPr lang="en-US" dirty="0"/>
              <a:t> </a:t>
            </a:r>
            <a:r>
              <a:rPr lang="en-US" dirty="0" err="1"/>
              <a:t>rorrovi</a:t>
            </a:r>
            <a:r>
              <a:rPr lang="en-US" dirty="0"/>
              <a:t> </a:t>
            </a:r>
            <a:r>
              <a:rPr lang="en-US" dirty="0" err="1"/>
              <a:t>tatquas</a:t>
            </a:r>
            <a:r>
              <a:rPr lang="en-US" dirty="0"/>
              <a:t> </a:t>
            </a:r>
            <a:r>
              <a:rPr lang="en-US" dirty="0" err="1"/>
              <a:t>reped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quaspis</a:t>
            </a:r>
            <a:r>
              <a:rPr lang="en-US" dirty="0"/>
              <a:t> que </a:t>
            </a:r>
            <a:r>
              <a:rPr lang="en-US" dirty="0" err="1"/>
              <a:t>exerrum</a:t>
            </a:r>
            <a:r>
              <a:rPr lang="en-US" dirty="0"/>
              <a:t> </a:t>
            </a:r>
            <a:r>
              <a:rPr lang="en-US" dirty="0" err="1"/>
              <a:t>dus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aborem</a:t>
            </a:r>
            <a:r>
              <a:rPr lang="en-US" dirty="0"/>
              <a:t> quid </a:t>
            </a:r>
            <a:r>
              <a:rPr lang="en-US" dirty="0" err="1"/>
              <a:t>molorem</a:t>
            </a:r>
            <a:r>
              <a:rPr lang="en-US" dirty="0"/>
              <a:t> </a:t>
            </a:r>
            <a:r>
              <a:rPr lang="en-US" dirty="0" err="1"/>
              <a:t>ium</a:t>
            </a:r>
            <a:r>
              <a:rPr lang="en-US" dirty="0"/>
              <a:t> </a:t>
            </a:r>
            <a:r>
              <a:rPr lang="en-US" dirty="0" err="1"/>
              <a:t>facerupic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omnihitet</a:t>
            </a:r>
            <a:r>
              <a:rPr lang="en-US" dirty="0"/>
              <a:t> </a:t>
            </a:r>
            <a:r>
              <a:rPr lang="en-US" dirty="0" err="1"/>
              <a:t>labo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dere</a:t>
            </a:r>
            <a:r>
              <a:rPr lang="en-US" dirty="0"/>
              <a:t> ne rem. </a:t>
            </a:r>
            <a:r>
              <a:rPr lang="en-US" dirty="0" err="1"/>
              <a:t>Liberchit</a:t>
            </a:r>
            <a:r>
              <a:rPr lang="en-US" dirty="0"/>
              <a:t> quae </a:t>
            </a:r>
            <a:r>
              <a:rPr lang="en-US" dirty="0" err="1"/>
              <a:t>nonsect</a:t>
            </a:r>
            <a:r>
              <a:rPr lang="en-US" dirty="0"/>
              <a:t> </a:t>
            </a:r>
            <a:r>
              <a:rPr lang="en-US" dirty="0" err="1"/>
              <a:t>otatectatem</a:t>
            </a:r>
            <a:r>
              <a:rPr lang="en-US" dirty="0"/>
              <a:t> </a:t>
            </a:r>
            <a:r>
              <a:rPr lang="en-US" dirty="0" err="1"/>
              <a:t>renim</a:t>
            </a:r>
            <a:r>
              <a:rPr lang="en-US" dirty="0"/>
              <a:t> </a:t>
            </a:r>
            <a:r>
              <a:rPr lang="en-US" dirty="0" err="1"/>
              <a:t>ulloresti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optiist</a:t>
            </a:r>
            <a:r>
              <a:rPr lang="en-US" dirty="0"/>
              <a:t> </a:t>
            </a:r>
            <a:r>
              <a:rPr lang="en-US" dirty="0" err="1"/>
              <a:t>ioreror</a:t>
            </a:r>
            <a:r>
              <a:rPr lang="en-US" dirty="0"/>
              <a:t> sum fugit </a:t>
            </a:r>
            <a:r>
              <a:rPr lang="en-US" dirty="0" err="1"/>
              <a:t>quistibus</a:t>
            </a:r>
            <a:r>
              <a:rPr lang="en-US" dirty="0"/>
              <a:t> </a:t>
            </a:r>
            <a:r>
              <a:rPr lang="en-US" dirty="0" err="1"/>
              <a:t>nihillabor</a:t>
            </a:r>
            <a:r>
              <a:rPr lang="en-US" dirty="0"/>
              <a:t>.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idx="13" hasCustomPrompt="1"/>
          </p:nvPr>
        </p:nvSpPr>
        <p:spPr>
          <a:xfrm>
            <a:off x="1064859" y="1285870"/>
            <a:ext cx="4880754" cy="19050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3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 err="1"/>
              <a:t>Consequae</a:t>
            </a:r>
            <a:r>
              <a:rPr lang="en-US" dirty="0"/>
              <a:t> dis </a:t>
            </a:r>
            <a:r>
              <a:rPr lang="en-US" dirty="0" err="1"/>
              <a:t>ento</a:t>
            </a:r>
            <a:r>
              <a:rPr lang="en-US" dirty="0"/>
              <a:t> </a:t>
            </a:r>
            <a:r>
              <a:rPr lang="en-US" dirty="0" err="1"/>
              <a:t>blacidusania</a:t>
            </a:r>
            <a:r>
              <a:rPr lang="en-US" dirty="0"/>
              <a:t> </a:t>
            </a:r>
            <a:r>
              <a:rPr lang="en-US" dirty="0" err="1"/>
              <a:t>sequiae</a:t>
            </a:r>
            <a:r>
              <a:rPr lang="en-US" dirty="0"/>
              <a:t> con </a:t>
            </a:r>
            <a:r>
              <a:rPr lang="en-US" dirty="0" err="1"/>
              <a:t>estisit</a:t>
            </a:r>
            <a:r>
              <a:rPr lang="en-US" dirty="0"/>
              <a:t> </a:t>
            </a:r>
            <a:r>
              <a:rPr lang="en-US" dirty="0" err="1"/>
              <a:t>volorum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615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7976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4EB04A-DB2E-457F-B640-D7FBCCCDC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86329-26EB-45BB-B04E-ABDB18BA253E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61BF4F-2F1B-4733-92BE-E4BB3A4B7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159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800EF-FEF2-4032-8D7C-E11FB58345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17A16-CBE0-4EF3-B824-FE38EA96C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D31A2-8F8C-4DF8-8202-E307C0AB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1AE99-CB02-4405-A8F5-D525087BEF8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BD826-D9BF-4780-9557-487E37B0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74110-F520-4ECC-9A80-73D9856E0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BAE37-1237-4E8D-AD38-A0652568558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3E0300-A806-EBCB-F662-F40A55D2F1D6}"/>
              </a:ext>
            </a:extLst>
          </p:cNvPr>
          <p:cNvSpPr/>
          <p:nvPr userDrawn="1"/>
        </p:nvSpPr>
        <p:spPr>
          <a:xfrm>
            <a:off x="0" y="6198393"/>
            <a:ext cx="12192000" cy="681037"/>
          </a:xfrm>
          <a:prstGeom prst="rect">
            <a:avLst/>
          </a:prstGeom>
          <a:solidFill>
            <a:srgbClr val="2C2F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 descr="A close up of a tripod&#10;&#10;Description automatically generated">
            <a:extLst>
              <a:ext uri="{FF2B5EF4-FFF2-40B4-BE49-F238E27FC236}">
                <a16:creationId xmlns:a16="http://schemas.microsoft.com/office/drawing/2014/main" id="{357D0A9B-6988-5989-2051-34B0847B91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69" y="6252112"/>
            <a:ext cx="1008370" cy="6058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6D2C09-6BD6-1994-403D-29EA0A1E95E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9193" y="136525"/>
            <a:ext cx="3210838" cy="480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237391-AF92-1428-ED4E-541CB422ED1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86956" y="6319793"/>
            <a:ext cx="1713075" cy="45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814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91E63-04DE-4A5F-92F0-EC84C619F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46A77-D9FA-4EB6-9702-2DC6E073B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17DF0-9BD1-4040-A1D0-57E1A8058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1AE99-CB02-4405-A8F5-D525087BEF8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B3785-F38C-456A-99A0-953C7F27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08E59-EBDA-4862-8205-BE65D59EF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BAE37-1237-4E8D-AD38-A065256855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45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CBD49-CA6E-4D7F-8637-E326932C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9D295-4A49-4A8C-8B65-A79011E6B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BF410-D1F9-46E5-BA89-12835E328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1AE99-CB02-4405-A8F5-D525087BEF8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58E55-245D-453A-9DAF-894EE6265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8F532-FA79-440B-8BC8-30F274CF6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BAE37-1237-4E8D-AD38-A065256855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2439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B6116-3B8B-432E-BB3C-8656D6462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CE2EE-6CC2-4BE8-BCDD-E08268A83E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DBCE75-355C-4293-A5CE-9798C7F68B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7DCDA-B689-4F95-A744-4E5F89715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1AE99-CB02-4405-A8F5-D525087BEF8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5E8D9E-0600-482A-8418-7D8EF9D4A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BC488-25B0-4F0E-8DDA-29E0D64EB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BAE37-1237-4E8D-AD38-A065256855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9305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286B7-9514-42D5-BB41-4FB70642C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E5E3F-A9EB-48C4-A336-5CBF04CBE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D34D7B-BC3C-4CA4-AD77-C4BD4D722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3CA3B7-FEEC-430B-949D-0E98ACB367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851C4-D1E4-4C18-9A94-BCDDABFF76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974789-1C73-4F0E-AE60-8C23231B3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1AE99-CB02-4405-A8F5-D525087BEF8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09A14E-AF3A-428E-B6D5-F81AA6ACB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2B4ED9-E416-449D-9509-1E7C38FF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BAE37-1237-4E8D-AD38-A065256855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731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862B9-36E7-4725-892B-0EAE4360F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E1CA3B-105A-4433-98B8-8789AFE4A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1AE99-CB02-4405-A8F5-D525087BEF8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1B8C99-E895-4EDA-A16B-468A25A3D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1220C-F586-4548-A516-F3E3673A8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BAE37-1237-4E8D-AD38-A065256855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1062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28C7F-FA70-4C85-AF17-CFF16C047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1AE99-CB02-4405-A8F5-D525087BEF8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A289D4-ED43-4319-AED4-95607382E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DDC0D-EC74-4D31-8BD6-261D5BFDB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BAE37-1237-4E8D-AD38-A065256855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65006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238F4-AB89-4DF8-BA67-88F44B8C7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57D98-9D75-4A30-8743-4BF420087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5D88E2-C832-4A32-9412-F4897E31B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2B703-F3C7-4F7B-A5C5-A04216154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1AE99-CB02-4405-A8F5-D525087BEF8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2AE492-C622-468D-BF51-27E81356C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8A0EB-D56B-46A2-9608-F478DC0A8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BAE37-1237-4E8D-AD38-A065256855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16786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BA3A-C76E-4220-AA15-F6C48BAAD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6E04FB-1496-4A49-A5EA-13E766CA4F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73BC9F-A08C-4F23-A740-A27CBABDD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8CF7E7-F8BA-4CC3-B86B-C92AB84B6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1AE99-CB02-4405-A8F5-D525087BEF8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25210-EAFC-4A74-AE34-ACECCFBC0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6A3A87-AE8B-45C2-8680-8E5D2A6E9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BAE37-1237-4E8D-AD38-A065256855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22920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22BF4-40C5-4335-9350-8A45BA4D6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838D8-E50E-498F-81C8-45D19405A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722B2-8889-4B10-B3DF-457B2A49B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1AE99-CB02-4405-A8F5-D525087BEF8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EC27E-4A04-44F6-832C-5EA667CDF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B3817-6A67-4484-B88D-E415101CE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BAE37-1237-4E8D-AD38-A065256855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4349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E3EDC4-A77F-4D71-AAE0-BAF5AEC7E9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28C69C-72EF-4534-84A6-E88C107246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240DD-148D-4A8A-94D3-6C28DA2EF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1AE99-CB02-4405-A8F5-D525087BEF8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76AC3-3C9D-4AE3-9F0C-0DF9373D0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27E45-BE71-4F15-9D42-BE3C8E8CC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BAE37-1237-4E8D-AD38-A065256855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4329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986329-26EB-45BB-B04E-ABDB18BA253E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0B72-B6BD-4231-8C7E-CC2CCC04B4AF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 userDrawn="1"/>
        </p:nvSpPr>
        <p:spPr>
          <a:xfrm>
            <a:off x="0" y="6198393"/>
            <a:ext cx="12192000" cy="681037"/>
          </a:xfrm>
          <a:prstGeom prst="rect">
            <a:avLst/>
          </a:prstGeom>
          <a:solidFill>
            <a:srgbClr val="2C2F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5731535" y="6384258"/>
            <a:ext cx="728930" cy="3302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CF0B72-B6BD-4231-8C7E-CC2CCC04B4AF}" type="slidenum">
              <a:rPr lang="en-GB" sz="2000" b="0" smtClean="0">
                <a:solidFill>
                  <a:schemeClr val="bg1"/>
                </a:solidFill>
              </a:rPr>
              <a:pPr/>
              <a:t>‹#›</a:t>
            </a:fld>
            <a:endParaRPr lang="en-GB" sz="2000" b="0" dirty="0">
              <a:solidFill>
                <a:schemeClr val="bg1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286956" y="6319793"/>
            <a:ext cx="1713075" cy="459175"/>
          </a:xfrm>
          <a:prstGeom prst="rect">
            <a:avLst/>
          </a:prstGeom>
        </p:spPr>
      </p:pic>
      <p:pic>
        <p:nvPicPr>
          <p:cNvPr id="13" name="Picture 12" descr="A close up of a tripod&#10;&#10;Description automatically generated">
            <a:extLst>
              <a:ext uri="{FF2B5EF4-FFF2-40B4-BE49-F238E27FC236}">
                <a16:creationId xmlns:a16="http://schemas.microsoft.com/office/drawing/2014/main" id="{1CB3C662-BC87-4A64-ACA2-8E131B9DBFB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69" y="6252112"/>
            <a:ext cx="1008370" cy="6058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3C2F0A-A400-5E9D-2F02-9D949FF758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9193" y="136525"/>
            <a:ext cx="3210838" cy="480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246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60" r:id="rId3"/>
    <p:sldLayoutId id="2147483668" r:id="rId4"/>
    <p:sldLayoutId id="214748366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316988-5A8C-4539-B7AD-EE1F26245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783F9-7029-49DA-954A-A6E7CE798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00F2D-1328-48D4-A716-A667096736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01AE99-CB02-4405-A8F5-D525087BEF8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7C96B-5395-4DDC-B174-8423A97B14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D3C1D-E1D9-4057-9149-15A1EE1FD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BAE37-1237-4E8D-AD38-A065256855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9907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0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media" Target="../media/media4.wav"/><Relationship Id="rId7" Type="http://schemas.openxmlformats.org/officeDocument/2006/relationships/image" Target="../media/image15.jpeg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4.xml"/><Relationship Id="rId4" Type="http://schemas.openxmlformats.org/officeDocument/2006/relationships/audio" Target="../media/media4.wav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media" Target="../media/media6.wav"/><Relationship Id="rId7" Type="http://schemas.openxmlformats.org/officeDocument/2006/relationships/image" Target="../media/image19.png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4.xml"/><Relationship Id="rId4" Type="http://schemas.openxmlformats.org/officeDocument/2006/relationships/audio" Target="../media/media6.wav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microsoft.com/office/2007/relationships/media" Target="../media/media7.wav"/><Relationship Id="rId7" Type="http://schemas.openxmlformats.org/officeDocument/2006/relationships/image" Target="../media/image10.png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4.xml"/><Relationship Id="rId4" Type="http://schemas.openxmlformats.org/officeDocument/2006/relationships/audio" Target="../media/media7.wav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media" Target="../media/media9.wav"/><Relationship Id="rId7" Type="http://schemas.openxmlformats.org/officeDocument/2006/relationships/image" Target="../media/image25.png"/><Relationship Id="rId2" Type="http://schemas.openxmlformats.org/officeDocument/2006/relationships/audio" Target="../media/media8.wav"/><Relationship Id="rId1" Type="http://schemas.microsoft.com/office/2007/relationships/media" Target="../media/media8.wav"/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9.wav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microsoft.com/office/2007/relationships/media" Target="../media/media7.wav"/><Relationship Id="rId7" Type="http://schemas.openxmlformats.org/officeDocument/2006/relationships/image" Target="../media/image10.png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27.png"/><Relationship Id="rId4" Type="http://schemas.openxmlformats.org/officeDocument/2006/relationships/audio" Target="../media/media7.wav"/><Relationship Id="rId9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6" Type="http://schemas.openxmlformats.org/officeDocument/2006/relationships/image" Target="../media/image10.png"/><Relationship Id="rId5" Type="http://schemas.openxmlformats.org/officeDocument/2006/relationships/image" Target="../media/image29.jpeg"/><Relationship Id="rId4" Type="http://schemas.openxmlformats.org/officeDocument/2006/relationships/notesSlide" Target="../notesSlides/notesSlide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14512-420E-5347-5135-0C7D4CB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62696"/>
            <a:ext cx="9144000" cy="947516"/>
          </a:xfrm>
        </p:spPr>
        <p:txBody>
          <a:bodyPr/>
          <a:lstStyle/>
          <a:p>
            <a:r>
              <a:rPr lang="en-US" dirty="0"/>
              <a:t>Differentiable Karplus-Strong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B02F3-DFC9-6A1F-E2B9-31EC4BAE2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02287"/>
            <a:ext cx="9144000" cy="1655762"/>
          </a:xfrm>
        </p:spPr>
        <p:txBody>
          <a:bodyPr/>
          <a:lstStyle/>
          <a:p>
            <a:r>
              <a:rPr lang="en-US" sz="2000" dirty="0"/>
              <a:t>@DMRN+20</a:t>
            </a:r>
          </a:p>
          <a:p>
            <a:r>
              <a:rPr lang="en-US" dirty="0"/>
              <a:t>Pablo Tablas de Paula, David Marttila &amp; Joshua D. Reiss</a:t>
            </a:r>
          </a:p>
          <a:p>
            <a:r>
              <a:rPr lang="en-US" sz="2000" dirty="0"/>
              <a:t>Queen Mary University of London</a:t>
            </a:r>
          </a:p>
        </p:txBody>
      </p:sp>
    </p:spTree>
    <p:extLst>
      <p:ext uri="{BB962C8B-B14F-4D97-AF65-F5344CB8AC3E}">
        <p14:creationId xmlns:p14="http://schemas.microsoft.com/office/powerpoint/2010/main" val="1481291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2E4753E-C4BE-462D-869E-5B23D4315F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4384" y="1655955"/>
                <a:ext cx="10601726" cy="1555064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An algorithm for plucked-string synthesis.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Input is usually a burst of noise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/>
                  <a:t> samples.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Fundamental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controlled through delay length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/>
                  <a:t> samples </a:t>
                </a: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2E4753E-C4BE-462D-869E-5B23D4315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84" y="1655955"/>
                <a:ext cx="10601726" cy="1555064"/>
              </a:xfrm>
              <a:prstGeom prst="rect">
                <a:avLst/>
              </a:prstGeom>
              <a:blipFill>
                <a:blip r:embed="rId3"/>
                <a:stretch>
                  <a:fillRect l="-478" t="-4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/>
          <p:cNvSpPr txBox="1">
            <a:spLocks/>
          </p:cNvSpPr>
          <p:nvPr/>
        </p:nvSpPr>
        <p:spPr>
          <a:xfrm>
            <a:off x="561218" y="799214"/>
            <a:ext cx="4775079" cy="5830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Karplus-Strong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B69AB7-5E97-3099-B89B-C774D5EE796A}"/>
              </a:ext>
            </a:extLst>
          </p:cNvPr>
          <p:cNvSpPr txBox="1"/>
          <p:nvPr/>
        </p:nvSpPr>
        <p:spPr>
          <a:xfrm>
            <a:off x="1170645" y="5751009"/>
            <a:ext cx="102544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Karplus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/>
                <a:cs typeface="Arial"/>
              </a:rPr>
              <a:t>, </a:t>
            </a:r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K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/>
                <a:cs typeface="Arial"/>
              </a:rPr>
              <a:t>. and </a:t>
            </a:r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Strong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/>
                <a:cs typeface="Arial"/>
              </a:rPr>
              <a:t>, </a:t>
            </a:r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A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/>
                <a:cs typeface="Arial"/>
              </a:rPr>
              <a:t>., </a:t>
            </a:r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1983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/>
                <a:cs typeface="Arial"/>
              </a:rPr>
              <a:t>. </a:t>
            </a:r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Digital 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/>
                <a:cs typeface="Arial"/>
              </a:rPr>
              <a:t>synthesis of </a:t>
            </a:r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plucked-string 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/>
                <a:cs typeface="Arial"/>
              </a:rPr>
              <a:t>and </a:t>
            </a:r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drum timbres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/>
                <a:cs typeface="Arial"/>
              </a:rPr>
              <a:t>.</a:t>
            </a:r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 Computer Music Journal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/>
                <a:cs typeface="Arial"/>
              </a:rPr>
              <a:t>,</a:t>
            </a:r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 7(2), pp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/>
                <a:cs typeface="Arial"/>
              </a:rPr>
              <a:t>.</a:t>
            </a:r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43-55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/>
                <a:cs typeface="Arial"/>
              </a:rPr>
              <a:t>.</a:t>
            </a:r>
            <a:endParaRPr lang="en-US" dirty="0"/>
          </a:p>
        </p:txBody>
      </p:sp>
      <p:pic>
        <p:nvPicPr>
          <p:cNvPr id="10" name="Picture 9" descr="A diagram of a circuit&#10;&#10;AI-generated content may be incorrect.">
            <a:extLst>
              <a:ext uri="{FF2B5EF4-FFF2-40B4-BE49-F238E27FC236}">
                <a16:creationId xmlns:a16="http://schemas.microsoft.com/office/drawing/2014/main" id="{455BB9EE-E5A0-47F7-CC9F-E43FA97FE7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147221"/>
            <a:ext cx="7772400" cy="248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34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3F584-D337-17F2-AF4B-7ACCD625C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diagram of a circuit&#10;&#10;AI-generated content may be incorrect.">
            <a:extLst>
              <a:ext uri="{FF2B5EF4-FFF2-40B4-BE49-F238E27FC236}">
                <a16:creationId xmlns:a16="http://schemas.microsoft.com/office/drawing/2014/main" id="{3D89295C-4D91-39E9-2D81-1C527D5FB2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147221"/>
            <a:ext cx="7772400" cy="24852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6B9AE02-1AA0-12C2-B08E-813802A9928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4384" y="1655955"/>
                <a:ext cx="10601726" cy="1555064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As samples pass through the delay line, each sample is replaced by the average of itself and the previous sample, forming an attenuation filter in the feedback path.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1 − </m:t>
                          </m:r>
                          <m:sSup>
                            <m:s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(1+ </m:t>
                          </m:r>
                          <m:sSup>
                            <m:s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It describes the decay and frequency dependant (timbre) characteristics of the string.</a:t>
                </a:r>
                <a:endParaRPr lang="en-US" sz="2000" dirty="0"/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6B9AE02-1AA0-12C2-B08E-813802A99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84" y="1655955"/>
                <a:ext cx="10601726" cy="1555064"/>
              </a:xfrm>
              <a:prstGeom prst="rect">
                <a:avLst/>
              </a:prstGeom>
              <a:blipFill>
                <a:blip r:embed="rId6"/>
                <a:stretch>
                  <a:fillRect l="-478" t="-4065" b="-11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5C28F471-E476-8B8D-3EF5-EE9305F6BF19}"/>
              </a:ext>
            </a:extLst>
          </p:cNvPr>
          <p:cNvSpPr txBox="1">
            <a:spLocks/>
          </p:cNvSpPr>
          <p:nvPr/>
        </p:nvSpPr>
        <p:spPr>
          <a:xfrm>
            <a:off x="561218" y="799214"/>
            <a:ext cx="4775079" cy="5830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Karplus-Strong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3DDDEA-21A2-1EAC-C6D9-066DE1AE3366}"/>
              </a:ext>
            </a:extLst>
          </p:cNvPr>
          <p:cNvSpPr txBox="1"/>
          <p:nvPr/>
        </p:nvSpPr>
        <p:spPr>
          <a:xfrm>
            <a:off x="1170645" y="5751009"/>
            <a:ext cx="102544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Karplus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/>
                <a:cs typeface="Arial"/>
              </a:rPr>
              <a:t>, </a:t>
            </a:r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K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/>
                <a:cs typeface="Arial"/>
              </a:rPr>
              <a:t>. and </a:t>
            </a:r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Strong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/>
                <a:cs typeface="Arial"/>
              </a:rPr>
              <a:t>, </a:t>
            </a:r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A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/>
                <a:cs typeface="Arial"/>
              </a:rPr>
              <a:t>., </a:t>
            </a:r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1983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/>
                <a:cs typeface="Arial"/>
              </a:rPr>
              <a:t>. </a:t>
            </a:r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Digital 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/>
                <a:cs typeface="Arial"/>
              </a:rPr>
              <a:t>synthesis of </a:t>
            </a:r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plucked-string 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/>
                <a:cs typeface="Arial"/>
              </a:rPr>
              <a:t>and </a:t>
            </a:r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drum timbres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/>
                <a:cs typeface="Arial"/>
              </a:rPr>
              <a:t>.</a:t>
            </a:r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 Computer Music Journal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/>
                <a:cs typeface="Arial"/>
              </a:rPr>
              <a:t>,</a:t>
            </a:r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 7(2), pp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/>
                <a:cs typeface="Arial"/>
              </a:rPr>
              <a:t>.</a:t>
            </a:r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43-55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/>
                <a:cs typeface="Arial"/>
              </a:rPr>
              <a:t>.</a:t>
            </a:r>
            <a:endParaRPr lang="en-US" dirty="0"/>
          </a:p>
        </p:txBody>
      </p:sp>
      <p:pic>
        <p:nvPicPr>
          <p:cNvPr id="2" name="download (5)">
            <a:hlinkClick r:id="" action="ppaction://media"/>
            <a:extLst>
              <a:ext uri="{FF2B5EF4-FFF2-40B4-BE49-F238E27FC236}">
                <a16:creationId xmlns:a16="http://schemas.microsoft.com/office/drawing/2014/main" id="{6E080343-3187-6134-FBAA-78506BD8AD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823772" y="4517026"/>
            <a:ext cx="772055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631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2F358-45D6-05DE-F67F-865F09C7F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9161947-029A-41D4-8971-0BB58F71A2CA}"/>
              </a:ext>
            </a:extLst>
          </p:cNvPr>
          <p:cNvSpPr txBox="1">
            <a:spLocks/>
          </p:cNvSpPr>
          <p:nvPr/>
        </p:nvSpPr>
        <p:spPr>
          <a:xfrm>
            <a:off x="614383" y="1655955"/>
            <a:ext cx="10794351" cy="155506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Jaffe &amp; Smith proposed filtering the input noise with: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a comb filter to simulate pluck position,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and a low-pass filter and gain stage to simulate playing dynamics.</a:t>
            </a:r>
            <a:endParaRPr lang="en-US" sz="2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3D1855-8E59-6F5C-F0A0-BEBC899824D7}"/>
              </a:ext>
            </a:extLst>
          </p:cNvPr>
          <p:cNvSpPr txBox="1">
            <a:spLocks/>
          </p:cNvSpPr>
          <p:nvPr/>
        </p:nvSpPr>
        <p:spPr>
          <a:xfrm>
            <a:off x="561218" y="799214"/>
            <a:ext cx="8316968" cy="5830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Karplus-Strong Algorithm (Extensions)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C58B92-673C-4D51-6C79-75DC120D1C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109" y="2866433"/>
            <a:ext cx="5817781" cy="27804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C8B86C-A9A5-3DB3-15CD-BDCCEFC91F03}"/>
              </a:ext>
            </a:extLst>
          </p:cNvPr>
          <p:cNvSpPr txBox="1"/>
          <p:nvPr/>
        </p:nvSpPr>
        <p:spPr>
          <a:xfrm>
            <a:off x="993192" y="5751009"/>
            <a:ext cx="10778913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Jaffe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/>
                <a:cs typeface="Arial"/>
              </a:rPr>
              <a:t>, </a:t>
            </a:r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D.A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/>
                <a:cs typeface="Arial"/>
              </a:rPr>
              <a:t>.</a:t>
            </a:r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 and Smith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/>
                <a:cs typeface="Arial"/>
              </a:rPr>
              <a:t>, </a:t>
            </a:r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J.O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/>
                <a:cs typeface="Arial"/>
              </a:rPr>
              <a:t>., </a:t>
            </a:r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1983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/>
                <a:cs typeface="Arial"/>
              </a:rPr>
              <a:t>. </a:t>
            </a:r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Extensions of the Karplus-Strong plucked-string algorithm. Computer Music Journal, 7(2), pp.56-69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/>
                <a:cs typeface="Arial"/>
              </a:rPr>
              <a:t>.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623562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1AAC0-E409-5AAE-E368-0FF862DB4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B64BFDB-46A6-6F32-9133-6F52D65B943E}"/>
              </a:ext>
            </a:extLst>
          </p:cNvPr>
          <p:cNvSpPr txBox="1">
            <a:spLocks/>
          </p:cNvSpPr>
          <p:nvPr/>
        </p:nvSpPr>
        <p:spPr>
          <a:xfrm>
            <a:off x="614383" y="1655955"/>
            <a:ext cx="10794351" cy="155506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Välimäki, </a:t>
            </a:r>
            <a:r>
              <a:rPr lang="en-GB" sz="2000" dirty="0" err="1"/>
              <a:t>Huopaniemi</a:t>
            </a:r>
            <a:r>
              <a:rPr lang="en-GB" sz="2000" dirty="0"/>
              <a:t> and Karjalainen proposed: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using a Lagrange interpolator (flat frequency response) for fractional delay lengths,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using a normalized first-order IIR, with a gain stage for decay control.</a:t>
            </a:r>
            <a:endParaRPr lang="en-US" sz="2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02FD0EC-B1EE-06E2-8554-2974D355D6B1}"/>
              </a:ext>
            </a:extLst>
          </p:cNvPr>
          <p:cNvSpPr txBox="1">
            <a:spLocks/>
          </p:cNvSpPr>
          <p:nvPr/>
        </p:nvSpPr>
        <p:spPr>
          <a:xfrm>
            <a:off x="561218" y="799214"/>
            <a:ext cx="8316968" cy="5830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Karplus-Strong Algorithm (Extensions)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56B494-71BA-8C84-B962-F083AB00FE06}"/>
              </a:ext>
            </a:extLst>
          </p:cNvPr>
          <p:cNvSpPr txBox="1"/>
          <p:nvPr/>
        </p:nvSpPr>
        <p:spPr>
          <a:xfrm>
            <a:off x="1082703" y="5752526"/>
            <a:ext cx="10026591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Välimäki, V. et al. 1996. Physical </a:t>
            </a:r>
            <a:r>
              <a:rPr lang="en-GB" sz="1400" i="1" dirty="0" err="1">
                <a:solidFill>
                  <a:srgbClr val="222222"/>
                </a:solidFill>
                <a:ea typeface="Cambria Math"/>
                <a:cs typeface="Arial"/>
              </a:rPr>
              <a:t>modeling</a:t>
            </a:r>
            <a:r>
              <a:rPr lang="en-GB" sz="1400" i="1" dirty="0">
                <a:solidFill>
                  <a:srgbClr val="222222"/>
                </a:solidFill>
                <a:ea typeface="Cambria Math"/>
                <a:cs typeface="Arial"/>
              </a:rPr>
              <a:t> of plucked string instruments with application to real-time sound synthesis. JAES.</a:t>
            </a:r>
            <a:endParaRPr lang="en-US" sz="1400" i="1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EB6068-F425-2F0C-97E4-9FCC21039F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109" y="2866433"/>
            <a:ext cx="5817781" cy="278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106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4E900-D0C9-1F24-1166-4166DA5BF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A06C582-DD42-8DF7-4712-5B23F8E07D70}"/>
              </a:ext>
            </a:extLst>
          </p:cNvPr>
          <p:cNvSpPr txBox="1">
            <a:spLocks/>
          </p:cNvSpPr>
          <p:nvPr/>
        </p:nvSpPr>
        <p:spPr>
          <a:xfrm>
            <a:off x="614383" y="1655955"/>
            <a:ext cx="10794351" cy="155506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Cambria Math" panose="02040503050406030204" pitchFamily="18" charset="0"/>
              </a:rPr>
              <a:t>Engel et al., proposed backpropagating through the parameters of Digital Signal Processors (hence, DDSP, differentiable DSP).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Cambria Math" panose="02040503050406030204" pitchFamily="18" charset="0"/>
              </a:rPr>
              <a:t>Allows Self-supervised learning for the synthesiser parameter inversion problem.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Cambria Math" panose="02040503050406030204" pitchFamily="18" charset="0"/>
              </a:rPr>
              <a:t>Since the output is limited to the DSP, training time is reduced substantially.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798A717-E3B4-5855-C489-46A21A295BA5}"/>
              </a:ext>
            </a:extLst>
          </p:cNvPr>
          <p:cNvSpPr txBox="1">
            <a:spLocks/>
          </p:cNvSpPr>
          <p:nvPr/>
        </p:nvSpPr>
        <p:spPr>
          <a:xfrm>
            <a:off x="561218" y="799214"/>
            <a:ext cx="8316968" cy="5830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DDSP &amp; Timbre-Transfer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4729E3-00B1-6D98-828B-C706E9D8523A}"/>
              </a:ext>
            </a:extLst>
          </p:cNvPr>
          <p:cNvSpPr txBox="1"/>
          <p:nvPr/>
        </p:nvSpPr>
        <p:spPr>
          <a:xfrm>
            <a:off x="2496841" y="5751009"/>
            <a:ext cx="781944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1400" b="0" i="0" dirty="0">
                <a:solidFill>
                  <a:srgbClr val="222222"/>
                </a:solidFill>
                <a:effectLst/>
                <a:ea typeface="Cambria Math" panose="02040503050406030204" pitchFamily="18" charset="0"/>
              </a:rPr>
              <a:t>Engel, J., Gu, C. and Roberts, A., 2020. DDSP: Differentiable Digital Signal Processing. In 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 panose="02040503050406030204" pitchFamily="18" charset="0"/>
              </a:rPr>
              <a:t>ICLR</a:t>
            </a:r>
            <a:r>
              <a:rPr lang="en-GB" sz="1400" b="0" i="0" dirty="0">
                <a:solidFill>
                  <a:srgbClr val="222222"/>
                </a:solidFill>
                <a:effectLst/>
                <a:ea typeface="Cambria Math" panose="02040503050406030204" pitchFamily="18" charset="0"/>
              </a:rPr>
              <a:t>.</a:t>
            </a:r>
            <a:endParaRPr lang="en-US" sz="1400" dirty="0">
              <a:ea typeface="Cambria Math" panose="020405030504060302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19B0DA-9C4C-BB2F-254A-0C74C08FD2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" t="-479" r="97" b="3902"/>
          <a:stretch/>
        </p:blipFill>
        <p:spPr>
          <a:xfrm>
            <a:off x="1375143" y="3040911"/>
            <a:ext cx="9441711" cy="252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028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C37C3-4384-81B2-49BD-219499BB8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F150C76A-3D7E-7D74-C133-5019815B26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4383" y="1655955"/>
                <a:ext cx="10794351" cy="1555064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ea typeface="Cambria Math" panose="02040503050406030204" pitchFamily="18" charset="0"/>
                  </a:rPr>
                  <a:t>In the original implementation, a neural network learnt the amplitude of harmonics and noise </a:t>
                </a:r>
                <a:r>
                  <a:rPr lang="en-US" sz="2000" dirty="0" err="1">
                    <a:ea typeface="Cambria Math" panose="02040503050406030204" pitchFamily="18" charset="0"/>
                  </a:rPr>
                  <a:t>filterbanks</a:t>
                </a:r>
                <a:r>
                  <a:rPr lang="en-US" sz="2000" dirty="0">
                    <a:ea typeface="Cambria Math" panose="02040503050406030204" pitchFamily="18" charset="0"/>
                  </a:rPr>
                  <a:t> from a spectral representation (timbre).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ea typeface="Cambria Math" panose="02040503050406030204" pitchFamily="18" charset="0"/>
                  </a:rPr>
                  <a:t>While Loudness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are extracted separately.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ea typeface="Cambria Math" panose="02040503050406030204" pitchFamily="18" charset="0"/>
                  </a:rPr>
                  <a:t>In result, a user-input can be transferred to the timbre of a previously learnt instrument.</a:t>
                </a: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F150C76A-3D7E-7D74-C133-5019815B2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83" y="1655955"/>
                <a:ext cx="10794351" cy="1555064"/>
              </a:xfrm>
              <a:prstGeom prst="rect">
                <a:avLst/>
              </a:prstGeom>
              <a:blipFill>
                <a:blip r:embed="rId3"/>
                <a:stretch>
                  <a:fillRect l="-470" t="-4065" r="-1175" b="-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7161F4C3-51F5-07FA-1A51-CD217D10D424}"/>
              </a:ext>
            </a:extLst>
          </p:cNvPr>
          <p:cNvSpPr txBox="1">
            <a:spLocks/>
          </p:cNvSpPr>
          <p:nvPr/>
        </p:nvSpPr>
        <p:spPr>
          <a:xfrm>
            <a:off x="561218" y="799214"/>
            <a:ext cx="8316968" cy="5830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DDSP &amp; Timbre-Transfer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9962E9-74F6-0302-5C1F-AE9DBD3BFB21}"/>
              </a:ext>
            </a:extLst>
          </p:cNvPr>
          <p:cNvSpPr txBox="1"/>
          <p:nvPr/>
        </p:nvSpPr>
        <p:spPr>
          <a:xfrm>
            <a:off x="2496841" y="5751009"/>
            <a:ext cx="781944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1400" b="0" i="0" dirty="0">
                <a:solidFill>
                  <a:srgbClr val="222222"/>
                </a:solidFill>
                <a:effectLst/>
                <a:ea typeface="Cambria Math" panose="02040503050406030204" pitchFamily="18" charset="0"/>
              </a:rPr>
              <a:t>Engel, J., Gu, C. and Roberts, A., 2020. DDSP: Differentiable Digital Signal Processing. In 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 panose="02040503050406030204" pitchFamily="18" charset="0"/>
              </a:rPr>
              <a:t>ICLR</a:t>
            </a:r>
            <a:r>
              <a:rPr lang="en-GB" sz="1400" b="0" i="0" dirty="0">
                <a:solidFill>
                  <a:srgbClr val="222222"/>
                </a:solidFill>
                <a:effectLst/>
                <a:ea typeface="Cambria Math" panose="02040503050406030204" pitchFamily="18" charset="0"/>
              </a:rPr>
              <a:t>.</a:t>
            </a:r>
            <a:endParaRPr lang="en-US" sz="1400" dirty="0">
              <a:ea typeface="Cambria Math" panose="020405030504060302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D3EADE-C920-555B-CDD3-9A9D1B151F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1" t="-479" r="97" b="3902"/>
          <a:stretch/>
        </p:blipFill>
        <p:spPr>
          <a:xfrm>
            <a:off x="1375143" y="3040911"/>
            <a:ext cx="9441711" cy="252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450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3F92D-9199-AE23-866D-2F6B5F817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C2D4B03-25B8-6D0C-7B52-BB0D1F4F5439}"/>
              </a:ext>
            </a:extLst>
          </p:cNvPr>
          <p:cNvSpPr txBox="1">
            <a:spLocks/>
          </p:cNvSpPr>
          <p:nvPr/>
        </p:nvSpPr>
        <p:spPr>
          <a:xfrm>
            <a:off x="561218" y="799214"/>
            <a:ext cx="8316968" cy="5830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DDSP &amp; Timbre-Transfer</a:t>
            </a:r>
          </a:p>
        </p:txBody>
      </p:sp>
      <p:pic>
        <p:nvPicPr>
          <p:cNvPr id="2" name="YTDown.com_YouTube_Turning-everyday-sounds-into-music-with_Media_bXBliLjImio_003_360p (online-video-cutter.com) (2)">
            <a:hlinkClick r:id="" action="ppaction://media"/>
            <a:extLst>
              <a:ext uri="{FF2B5EF4-FFF2-40B4-BE49-F238E27FC236}">
                <a16:creationId xmlns:a16="http://schemas.microsoft.com/office/drawing/2014/main" id="{ECDCC1AB-4051-C47D-B5C8-444BB9C858D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246765" y="1826305"/>
            <a:ext cx="5698469" cy="32053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9664B8-94AB-373C-AB1B-263E9AEB730B}"/>
              </a:ext>
            </a:extLst>
          </p:cNvPr>
          <p:cNvSpPr txBox="1"/>
          <p:nvPr/>
        </p:nvSpPr>
        <p:spPr>
          <a:xfrm>
            <a:off x="3820504" y="5751009"/>
            <a:ext cx="45509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https://</a:t>
            </a:r>
            <a:r>
              <a:rPr lang="en-US" sz="1400" dirty="0" err="1"/>
              <a:t>www.youtube.com</a:t>
            </a:r>
            <a:r>
              <a:rPr lang="en-US" sz="1400" dirty="0"/>
              <a:t>/</a:t>
            </a:r>
            <a:r>
              <a:rPr lang="en-US" sz="1400" dirty="0" err="1"/>
              <a:t>watch?v</a:t>
            </a:r>
            <a:r>
              <a:rPr lang="en-US" sz="1400" dirty="0"/>
              <a:t>=</a:t>
            </a:r>
            <a:r>
              <a:rPr lang="en-US" sz="1400" dirty="0" err="1"/>
              <a:t>bXBliLjImio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40419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64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3F92D-9199-AE23-866D-2F6B5F817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C2D4B03-25B8-6D0C-7B52-BB0D1F4F5439}"/>
              </a:ext>
            </a:extLst>
          </p:cNvPr>
          <p:cNvSpPr txBox="1">
            <a:spLocks/>
          </p:cNvSpPr>
          <p:nvPr/>
        </p:nvSpPr>
        <p:spPr>
          <a:xfrm>
            <a:off x="561218" y="799214"/>
            <a:ext cx="8316968" cy="5830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DDSP &amp; Timbre-Transfer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0CA240-39C1-3C00-EA63-CAB22A740427}"/>
              </a:ext>
            </a:extLst>
          </p:cNvPr>
          <p:cNvSpPr txBox="1"/>
          <p:nvPr/>
        </p:nvSpPr>
        <p:spPr>
          <a:xfrm>
            <a:off x="507506" y="4705776"/>
            <a:ext cx="111769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0" i="0" dirty="0">
                <a:solidFill>
                  <a:srgbClr val="222222"/>
                </a:solidFill>
                <a:effectLst/>
                <a:ea typeface="Cambria Math" panose="02040503050406030204" pitchFamily="18" charset="0"/>
              </a:rPr>
              <a:t>Hayes, B., </a:t>
            </a:r>
            <a:r>
              <a:rPr lang="en-GB" sz="1400" b="0" i="0" dirty="0" err="1">
                <a:solidFill>
                  <a:srgbClr val="222222"/>
                </a:solidFill>
                <a:effectLst/>
                <a:ea typeface="Cambria Math" panose="02040503050406030204" pitchFamily="18" charset="0"/>
              </a:rPr>
              <a:t>Saitis</a:t>
            </a:r>
            <a:r>
              <a:rPr lang="en-GB" sz="1400" b="0" i="0" dirty="0">
                <a:solidFill>
                  <a:srgbClr val="222222"/>
                </a:solidFill>
                <a:effectLst/>
                <a:ea typeface="Cambria Math" panose="02040503050406030204" pitchFamily="18" charset="0"/>
              </a:rPr>
              <a:t>, C. and Fazekas, G., 2021. Neural </a:t>
            </a:r>
            <a:r>
              <a:rPr lang="en-GB" sz="1400" dirty="0" err="1">
                <a:solidFill>
                  <a:srgbClr val="222222"/>
                </a:solidFill>
                <a:ea typeface="Cambria Math" panose="02040503050406030204" pitchFamily="18" charset="0"/>
              </a:rPr>
              <a:t>W</a:t>
            </a:r>
            <a:r>
              <a:rPr lang="en-GB" sz="1400" b="0" i="0" dirty="0" err="1">
                <a:solidFill>
                  <a:srgbClr val="222222"/>
                </a:solidFill>
                <a:effectLst/>
                <a:ea typeface="Cambria Math" panose="02040503050406030204" pitchFamily="18" charset="0"/>
              </a:rPr>
              <a:t>aveshaping</a:t>
            </a:r>
            <a:r>
              <a:rPr lang="en-GB" sz="1400" b="0" i="0" dirty="0">
                <a:solidFill>
                  <a:srgbClr val="222222"/>
                </a:solidFill>
                <a:effectLst/>
                <a:ea typeface="Cambria Math" panose="02040503050406030204" pitchFamily="18" charset="0"/>
              </a:rPr>
              <a:t> synthesis. In 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 panose="02040503050406030204" pitchFamily="18" charset="0"/>
              </a:rPr>
              <a:t>ISMIR.</a:t>
            </a:r>
          </a:p>
          <a:p>
            <a:pPr algn="ctr"/>
            <a:r>
              <a:rPr lang="en-GB" sz="1400" b="0" i="0" dirty="0">
                <a:solidFill>
                  <a:srgbClr val="222222"/>
                </a:solidFill>
                <a:effectLst/>
                <a:ea typeface="Cambria Math" panose="02040503050406030204" pitchFamily="18" charset="0"/>
              </a:rPr>
              <a:t>Caspe, F., McPherson, A. and Sandler, M., 2022, December. DDX7: Differentiable FM Synthesis of Musical Instrument Sounds. In 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 panose="02040503050406030204" pitchFamily="18" charset="0"/>
              </a:rPr>
              <a:t>ISMIR.</a:t>
            </a:r>
          </a:p>
          <a:p>
            <a:pPr algn="ctr"/>
            <a:r>
              <a:rPr lang="en-GB" sz="1400" b="0" i="0" dirty="0" err="1">
                <a:solidFill>
                  <a:srgbClr val="222222"/>
                </a:solidFill>
                <a:effectLst/>
                <a:ea typeface="Cambria Math" panose="02040503050406030204" pitchFamily="18" charset="0"/>
              </a:rPr>
              <a:t>Südholt</a:t>
            </a:r>
            <a:r>
              <a:rPr lang="en-GB" sz="1400" b="0" i="0" dirty="0">
                <a:solidFill>
                  <a:srgbClr val="222222"/>
                </a:solidFill>
                <a:effectLst/>
                <a:ea typeface="Cambria Math" panose="02040503050406030204" pitchFamily="18" charset="0"/>
              </a:rPr>
              <a:t>, D., Cámara, M., Xu, Z. and Reiss, J.D., 2023. Vocal Tract Area Descent Estimation by Gradient Descent. In 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 panose="02040503050406030204" pitchFamily="18" charset="0"/>
              </a:rPr>
              <a:t>DAFx23.</a:t>
            </a:r>
          </a:p>
          <a:p>
            <a:pPr algn="ctr"/>
            <a:r>
              <a:rPr lang="en-GB" sz="1400" b="0" dirty="0">
                <a:solidFill>
                  <a:srgbClr val="222222"/>
                </a:solidFill>
                <a:effectLst/>
                <a:ea typeface="Cambria Math" panose="02040503050406030204" pitchFamily="18" charset="0"/>
              </a:rPr>
              <a:t>Mezza, A.I., </a:t>
            </a:r>
            <a:r>
              <a:rPr lang="en-GB" sz="1400" b="0" dirty="0" err="1">
                <a:solidFill>
                  <a:srgbClr val="222222"/>
                </a:solidFill>
                <a:effectLst/>
                <a:ea typeface="Cambria Math" panose="02040503050406030204" pitchFamily="18" charset="0"/>
              </a:rPr>
              <a:t>Giampiccolo</a:t>
            </a:r>
            <a:r>
              <a:rPr lang="en-GB" sz="1400" b="0" dirty="0">
                <a:solidFill>
                  <a:srgbClr val="222222"/>
                </a:solidFill>
                <a:effectLst/>
                <a:ea typeface="Cambria Math" panose="02040503050406030204" pitchFamily="18" charset="0"/>
              </a:rPr>
              <a:t>, R. and Bernardini, A., 2025. Differentiable Scattering Delay Networks for Artificial Reverberation. In 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 panose="02040503050406030204" pitchFamily="18" charset="0"/>
              </a:rPr>
              <a:t>DAFx25.</a:t>
            </a:r>
          </a:p>
          <a:p>
            <a:pPr algn="ctr"/>
            <a:r>
              <a:rPr lang="en-GB" sz="1400" b="0" i="0" dirty="0">
                <a:solidFill>
                  <a:srgbClr val="222222"/>
                </a:solidFill>
                <a:effectLst/>
                <a:ea typeface="Cambria Math" panose="02040503050406030204" pitchFamily="18" charset="0"/>
              </a:rPr>
              <a:t>Dal Santo, G., et al., 2025, April. FLAMO: An Open-Source Library for Frequency-Domain Differentiable Audio Processing. In </a:t>
            </a:r>
            <a:r>
              <a:rPr lang="en-GB" sz="1400" b="0" i="1" dirty="0">
                <a:solidFill>
                  <a:srgbClr val="222222"/>
                </a:solidFill>
                <a:effectLst/>
                <a:ea typeface="Cambria Math" panose="02040503050406030204" pitchFamily="18" charset="0"/>
              </a:rPr>
              <a:t>ICASSP.</a:t>
            </a:r>
          </a:p>
          <a:p>
            <a:pPr algn="ctr"/>
            <a:r>
              <a:rPr lang="en-GB" sz="1400" b="0" i="0" dirty="0">
                <a:solidFill>
                  <a:srgbClr val="222222"/>
                </a:solidFill>
                <a:effectLst/>
                <a:ea typeface="Cambria Math" panose="02040503050406030204" pitchFamily="18" charset="0"/>
              </a:rPr>
              <a:t>Yu, C.Y. and Fazekas, G., 2025. Accelerating Automatic Differentiation of Direct Form Digital Filters. </a:t>
            </a:r>
            <a:r>
              <a:rPr lang="en-GB" sz="1400" b="0" i="1" dirty="0" err="1">
                <a:solidFill>
                  <a:srgbClr val="222222"/>
                </a:solidFill>
                <a:effectLst/>
                <a:ea typeface="Cambria Math" panose="02040503050406030204" pitchFamily="18" charset="0"/>
              </a:rPr>
              <a:t>EurIPS</a:t>
            </a:r>
            <a:endParaRPr lang="en-US" sz="1400" dirty="0">
              <a:ea typeface="Cambria Math" panose="020405030504060302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30AD11A-1723-DAC2-8ECD-7D95F2AFF7A9}"/>
              </a:ext>
            </a:extLst>
          </p:cNvPr>
          <p:cNvSpPr txBox="1">
            <a:spLocks/>
          </p:cNvSpPr>
          <p:nvPr/>
        </p:nvSpPr>
        <p:spPr>
          <a:xfrm>
            <a:off x="614383" y="1655954"/>
            <a:ext cx="10794351" cy="283098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Cambria Math"/>
              </a:rPr>
              <a:t>The last five years have seen numerous applications to other DSP: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Cambria Math"/>
              </a:rPr>
              <a:t>FM Synthesis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ea typeface="Cambria Math" panose="02040503050406030204" pitchFamily="18" charset="0"/>
              </a:rPr>
              <a:t>Waveshaping</a:t>
            </a:r>
            <a:endParaRPr lang="en-US" sz="2000" dirty="0">
              <a:ea typeface="Cambria Math" panose="020405030504060302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Cambria Math"/>
              </a:rPr>
              <a:t>Physical Modelling</a:t>
            </a:r>
            <a:endParaRPr lang="en-US" sz="2000" dirty="0">
              <a:ea typeface="Cambria Math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Cambria Math"/>
              </a:rPr>
              <a:t>Some general-purpose libraries: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Cambria Math"/>
              </a:rPr>
              <a:t>FLAMO, a Frequency-sampling library for LTI 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ea typeface="Cambria Math"/>
              </a:rPr>
              <a:t>PhilTorch</a:t>
            </a:r>
            <a:r>
              <a:rPr lang="en-US" sz="2000" dirty="0">
                <a:ea typeface="Cambria Math"/>
              </a:rPr>
              <a:t>, library for Time-Domain filters (LTI and LTV)</a:t>
            </a:r>
            <a:endParaRPr lang="en-US" sz="2000" dirty="0">
              <a:ea typeface="Cambria Math" panose="020405030504060302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65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08503-EC8E-973D-E7D9-9BF357416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CF5CD0C-7AA5-5911-30FB-086217316E83}"/>
              </a:ext>
            </a:extLst>
          </p:cNvPr>
          <p:cNvSpPr txBox="1">
            <a:spLocks/>
          </p:cNvSpPr>
          <p:nvPr/>
        </p:nvSpPr>
        <p:spPr>
          <a:xfrm>
            <a:off x="561218" y="799214"/>
            <a:ext cx="8316968" cy="5830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Previous 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F1E3CA-9871-B8CD-715F-B6C0DCD5EF03}"/>
              </a:ext>
            </a:extLst>
          </p:cNvPr>
          <p:cNvSpPr txBox="1"/>
          <p:nvPr/>
        </p:nvSpPr>
        <p:spPr>
          <a:xfrm>
            <a:off x="507506" y="5751009"/>
            <a:ext cx="11176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Source: https://intro2ddsp.github.io/physical-</a:t>
            </a:r>
            <a:r>
              <a:rPr lang="en-GB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modeling</a:t>
            </a:r>
            <a:r>
              <a:rPr lang="en-GB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/</a:t>
            </a:r>
            <a:r>
              <a:rPr lang="en-GB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wave_equation.html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2BCEF00-2F71-F0CD-C646-0A177CD3EF1C}"/>
              </a:ext>
            </a:extLst>
          </p:cNvPr>
          <p:cNvSpPr txBox="1">
            <a:spLocks/>
          </p:cNvSpPr>
          <p:nvPr/>
        </p:nvSpPr>
        <p:spPr>
          <a:xfrm>
            <a:off x="614383" y="1655954"/>
            <a:ext cx="10794351" cy="283098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Cambria Math"/>
              </a:rPr>
              <a:t>In the accompanying materials of Hayes et 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Cambria Math"/>
              </a:rPr>
              <a:t>LTI implementation with frequency sampling,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Cambria Math"/>
              </a:rPr>
              <a:t>Where </a:t>
            </a:r>
            <a:r>
              <a:rPr lang="en-US" sz="2000" i="1" dirty="0">
                <a:ea typeface="Cambria Math"/>
              </a:rPr>
              <a:t>decay</a:t>
            </a:r>
            <a:r>
              <a:rPr lang="en-US" sz="2000" dirty="0">
                <a:ea typeface="Cambria Math"/>
              </a:rPr>
              <a:t>, as a gain stage in the loop, can be </a:t>
            </a:r>
            <a:r>
              <a:rPr lang="en-US" sz="2000" dirty="0" err="1">
                <a:ea typeface="Cambria Math"/>
              </a:rPr>
              <a:t>optimised</a:t>
            </a:r>
            <a:r>
              <a:rPr lang="en-US" sz="2000" dirty="0">
                <a:ea typeface="Cambria Math"/>
              </a:rPr>
              <a:t>.</a:t>
            </a:r>
            <a:endParaRPr lang="en-US" sz="2000" dirty="0">
              <a:ea typeface="Cambria Math" panose="02040503050406030204" pitchFamily="18" charset="0"/>
            </a:endParaRPr>
          </a:p>
          <a:p>
            <a:endParaRPr lang="en-US" dirty="0"/>
          </a:p>
        </p:txBody>
      </p:sp>
      <p:pic>
        <p:nvPicPr>
          <p:cNvPr id="7" name="Picture 6" descr="A diagram of a circuit&#10;&#10;AI-generated content may be incorrect.">
            <a:extLst>
              <a:ext uri="{FF2B5EF4-FFF2-40B4-BE49-F238E27FC236}">
                <a16:creationId xmlns:a16="http://schemas.microsoft.com/office/drawing/2014/main" id="{FDDA0C82-FBD0-BB23-0838-2549AC3153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358" y="2912749"/>
            <a:ext cx="7772400" cy="2485240"/>
          </a:xfrm>
          <a:prstGeom prst="rect">
            <a:avLst/>
          </a:prstGeom>
        </p:spPr>
      </p:pic>
      <p:pic>
        <p:nvPicPr>
          <p:cNvPr id="10" name="download (2)">
            <a:hlinkClick r:id="" action="ppaction://media"/>
            <a:extLst>
              <a:ext uri="{FF2B5EF4-FFF2-40B4-BE49-F238E27FC236}">
                <a16:creationId xmlns:a16="http://schemas.microsoft.com/office/drawing/2014/main" id="{AEE9BD40-5ADF-44DF-29EE-25AFD61D11F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14382" y="3124415"/>
            <a:ext cx="812800" cy="812800"/>
          </a:xfrm>
          <a:prstGeom prst="rect">
            <a:avLst/>
          </a:prstGeom>
        </p:spPr>
      </p:pic>
      <p:pic>
        <p:nvPicPr>
          <p:cNvPr id="11" name="download (3)">
            <a:hlinkClick r:id="" action="ppaction://media"/>
            <a:extLst>
              <a:ext uri="{FF2B5EF4-FFF2-40B4-BE49-F238E27FC236}">
                <a16:creationId xmlns:a16="http://schemas.microsoft.com/office/drawing/2014/main" id="{DCBBD6FF-61D1-7469-9A33-F4B202D81D2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14382" y="4290235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68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0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5D3E9-9C78-3DD9-499A-730B69F11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89D23DE-AEF6-F066-5915-38BF96C82BD1}"/>
              </a:ext>
            </a:extLst>
          </p:cNvPr>
          <p:cNvSpPr txBox="1">
            <a:spLocks/>
          </p:cNvSpPr>
          <p:nvPr/>
        </p:nvSpPr>
        <p:spPr>
          <a:xfrm>
            <a:off x="561218" y="799214"/>
            <a:ext cx="8316968" cy="5830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Differentiable Karplus-Strong – why?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C14CC41-94C0-9A55-4218-32B0093C2A64}"/>
              </a:ext>
            </a:extLst>
          </p:cNvPr>
          <p:cNvSpPr txBox="1">
            <a:spLocks/>
          </p:cNvSpPr>
          <p:nvPr/>
        </p:nvSpPr>
        <p:spPr>
          <a:xfrm>
            <a:off x="614383" y="1655954"/>
            <a:ext cx="10794351" cy="283098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Cambria Math"/>
              </a:rPr>
              <a:t>We propose using Karplus-Strong for timbre-transfer because: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Cambria Math"/>
              </a:rPr>
              <a:t>It is very efficient;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Cambria Math"/>
              </a:rPr>
              <a:t>It can simulate strings with a fraction of the DSP.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Cambria Math"/>
              </a:rPr>
              <a:t>It offers a strong structural prior.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Cambria Math"/>
              </a:rPr>
              <a:t>Hence, we hypothesize: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Cambria Math"/>
              </a:rPr>
              <a:t>the neural network will need fewer parameters,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Cambria Math"/>
              </a:rPr>
              <a:t>train faster,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Cambria Math"/>
              </a:rPr>
              <a:t>and transients will be better represented.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2000" dirty="0">
              <a:ea typeface="Cambria Math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>
              <a:ea typeface="Cambria Math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>
              <a:ea typeface="Cambria Math" panose="020405030504060302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64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5A7B4-9719-4172-3333-48170D07B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0354C9A-8A6C-BDC4-E6E0-65AED495F73D}"/>
              </a:ext>
            </a:extLst>
          </p:cNvPr>
          <p:cNvSpPr txBox="1"/>
          <p:nvPr/>
        </p:nvSpPr>
        <p:spPr>
          <a:xfrm>
            <a:off x="5056857" y="3492829"/>
            <a:ext cx="19327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C2F9D"/>
                </a:solidFill>
              </a:rPr>
              <a:t>We can fold the recursion</a:t>
            </a:r>
          </a:p>
          <a:p>
            <a:pPr algn="ctr"/>
            <a:endParaRPr lang="en-US" dirty="0">
              <a:solidFill>
                <a:srgbClr val="2C2F9D"/>
              </a:solidFill>
            </a:endParaRPr>
          </a:p>
          <a:p>
            <a:pPr algn="ctr"/>
            <a:endParaRPr lang="en-US" dirty="0">
              <a:solidFill>
                <a:srgbClr val="2C2F9D"/>
              </a:solidFill>
            </a:endParaRPr>
          </a:p>
          <a:p>
            <a:pPr algn="ctr"/>
            <a:r>
              <a:rPr lang="en-US" dirty="0">
                <a:solidFill>
                  <a:srgbClr val="2C2F9D"/>
                </a:solidFill>
              </a:rPr>
              <a:t>into one big</a:t>
            </a:r>
          </a:p>
          <a:p>
            <a:pPr algn="ctr"/>
            <a:r>
              <a:rPr lang="en-US" dirty="0">
                <a:solidFill>
                  <a:srgbClr val="2C2F9D"/>
                </a:solidFill>
              </a:rPr>
              <a:t> IIR!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9405FAA-DDCB-6EF2-F23B-1FB978FC6E41}"/>
              </a:ext>
            </a:extLst>
          </p:cNvPr>
          <p:cNvSpPr txBox="1">
            <a:spLocks/>
          </p:cNvSpPr>
          <p:nvPr/>
        </p:nvSpPr>
        <p:spPr>
          <a:xfrm>
            <a:off x="561218" y="799214"/>
            <a:ext cx="8316968" cy="5830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Differentiable Karplus-Strong – how?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45D6DA4-81FF-A072-549E-FE8BE66E204B}"/>
              </a:ext>
            </a:extLst>
          </p:cNvPr>
          <p:cNvSpPr txBox="1">
            <a:spLocks/>
          </p:cNvSpPr>
          <p:nvPr/>
        </p:nvSpPr>
        <p:spPr>
          <a:xfrm>
            <a:off x="614383" y="1655954"/>
            <a:ext cx="10794351" cy="152318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Cambria Math"/>
              </a:rPr>
              <a:t>IIR systems have dense computational graphs if implemented naively, but we can do: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Cambria Math"/>
              </a:rPr>
              <a:t>Frequency Sampling methods.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C2F9D"/>
                </a:solidFill>
                <a:ea typeface="Cambria Math"/>
              </a:rPr>
              <a:t>Time-Domain methods</a:t>
            </a:r>
            <a:r>
              <a:rPr lang="en-US" sz="2000" dirty="0">
                <a:ea typeface="Cambria Math"/>
              </a:rPr>
              <a:t>, handle time-varying systems natively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Cambria Math"/>
              </a:rPr>
              <a:t>but do not (currently) allow for additional filtering in feedback paths.</a:t>
            </a:r>
            <a:endParaRPr lang="en-US" sz="2000" dirty="0">
              <a:solidFill>
                <a:srgbClr val="FF0000"/>
              </a:solidFill>
              <a:ea typeface="Cambria Math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>
              <a:ea typeface="Cambria Math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>
              <a:ea typeface="Cambria Math" panose="02040503050406030204" pitchFamily="18" charset="0"/>
            </a:endParaRPr>
          </a:p>
          <a:p>
            <a:endParaRPr lang="en-US" dirty="0"/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E34DF26C-B159-543F-B4A6-833D883885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61" y="3195074"/>
            <a:ext cx="4505007" cy="22676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941E55-F5B0-8BAA-D0F5-7EC38629E914}"/>
              </a:ext>
            </a:extLst>
          </p:cNvPr>
          <p:cNvSpPr txBox="1"/>
          <p:nvPr/>
        </p:nvSpPr>
        <p:spPr>
          <a:xfrm>
            <a:off x="1884504" y="5827838"/>
            <a:ext cx="84688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0" i="0" dirty="0">
                <a:solidFill>
                  <a:srgbClr val="2222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Yu, C.Y., </a:t>
            </a:r>
            <a:r>
              <a:rPr lang="en-GB" sz="1400" b="0" i="0" dirty="0" err="1">
                <a:solidFill>
                  <a:srgbClr val="2222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Mitcheltree</a:t>
            </a:r>
            <a:r>
              <a:rPr lang="en-GB" sz="1400" b="0" i="0" dirty="0">
                <a:solidFill>
                  <a:srgbClr val="2222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C., et al., 2024. Differentiable All-Pole Filters for Time-Varying Audio Systems. In </a:t>
            </a:r>
            <a:r>
              <a:rPr lang="en-GB" sz="1400" b="0" i="1" dirty="0">
                <a:solidFill>
                  <a:srgbClr val="2222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DAFx24</a:t>
            </a:r>
            <a:endParaRPr lang="en-US" sz="1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D20D7486-0C28-194D-49DC-A9F6AF8088E4}"/>
              </a:ext>
            </a:extLst>
          </p:cNvPr>
          <p:cNvSpPr/>
          <p:nvPr/>
        </p:nvSpPr>
        <p:spPr>
          <a:xfrm>
            <a:off x="5152554" y="3972693"/>
            <a:ext cx="1932755" cy="712449"/>
          </a:xfrm>
          <a:prstGeom prst="rightArrow">
            <a:avLst/>
          </a:prstGeom>
          <a:solidFill>
            <a:srgbClr val="2C2F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B8DA1F-9E19-4252-303D-2F99C9E76E5D}"/>
              </a:ext>
            </a:extLst>
          </p:cNvPr>
          <p:cNvSpPr/>
          <p:nvPr/>
        </p:nvSpPr>
        <p:spPr>
          <a:xfrm>
            <a:off x="1573599" y="3179135"/>
            <a:ext cx="3434317" cy="2389682"/>
          </a:xfrm>
          <a:prstGeom prst="rect">
            <a:avLst/>
          </a:prstGeom>
          <a:noFill/>
          <a:ln>
            <a:solidFill>
              <a:srgbClr val="2C2F9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71E5B8C-798E-5F21-86DD-D982A9E2C4B3}"/>
                  </a:ext>
                </a:extLst>
              </p:cNvPr>
              <p:cNvSpPr txBox="1"/>
              <p:nvPr/>
            </p:nvSpPr>
            <p:spPr>
              <a:xfrm>
                <a:off x="7181006" y="3983237"/>
                <a:ext cx="4763805" cy="6343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𝑘𝑠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p>
                          </m:sSup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1 −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𝐼𝐼𝑅</m:t>
                              </m:r>
                            </m:sub>
                          </m:sSub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∗ 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𝐿𝑎𝑔𝑟𝑎𝑛𝑔𝑒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)∗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71E5B8C-798E-5F21-86DD-D982A9E2C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006" y="3983237"/>
                <a:ext cx="4763805" cy="634341"/>
              </a:xfrm>
              <a:prstGeom prst="rect">
                <a:avLst/>
              </a:prstGeom>
              <a:blipFill>
                <a:blip r:embed="rId4"/>
                <a:stretch>
                  <a:fillRect l="-532" r="-1330" b="-13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1781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07FA0-C02B-DD60-039B-8BCF3F675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EF51BCC-161A-C76D-BF2F-82B445A70710}"/>
              </a:ext>
            </a:extLst>
          </p:cNvPr>
          <p:cNvSpPr txBox="1">
            <a:spLocks/>
          </p:cNvSpPr>
          <p:nvPr/>
        </p:nvSpPr>
        <p:spPr>
          <a:xfrm>
            <a:off x="561218" y="799214"/>
            <a:ext cx="8316968" cy="5830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Differentiable Karplus-Strong – how?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165E84C-BB11-EFD4-5BA9-ED2CECB762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4383" y="1655954"/>
                <a:ext cx="10794351" cy="1523181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ea typeface="Cambria Math"/>
                  </a:rPr>
                  <a:t>Lastly, we need: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ea typeface="Cambria Math"/>
                  </a:rPr>
                  <a:t>an onset detector, to place noise bursts.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/>
                    </a:solidFill>
                    <a:ea typeface="Cambria Math"/>
                  </a:rPr>
                  <a:t>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𝑓</m:t>
                        </m:r>
                      </m:e>
                      <m:sub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ea typeface="Cambria Math"/>
                  </a:rPr>
                  <a:t> estimator, to define delay line length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𝐿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000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00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165E84C-BB11-EFD4-5BA9-ED2CECB76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83" y="1655954"/>
                <a:ext cx="10794351" cy="1523181"/>
              </a:xfrm>
              <a:prstGeom prst="rect">
                <a:avLst/>
              </a:prstGeom>
              <a:blipFill>
                <a:blip r:embed="rId3"/>
                <a:stretch>
                  <a:fillRect l="-470" t="-4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BAF4800-B560-C5BA-6C5C-0E98EA57A3F5}"/>
              </a:ext>
            </a:extLst>
          </p:cNvPr>
          <p:cNvSpPr txBox="1"/>
          <p:nvPr/>
        </p:nvSpPr>
        <p:spPr>
          <a:xfrm>
            <a:off x="3860452" y="5836073"/>
            <a:ext cx="42280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0" i="0" dirty="0">
                <a:solidFill>
                  <a:srgbClr val="2222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McFee, B. et al. 2023. </a:t>
            </a:r>
            <a:r>
              <a:rPr lang="en-GB" sz="1400" b="0" i="0" dirty="0" err="1">
                <a:solidFill>
                  <a:srgbClr val="2222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librosa</a:t>
            </a:r>
            <a:r>
              <a:rPr lang="en-GB" sz="1400" b="0" i="0" dirty="0">
                <a:solidFill>
                  <a:srgbClr val="2222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lang="en-GB" sz="1400" b="0" i="0" dirty="0" err="1">
                <a:solidFill>
                  <a:srgbClr val="2222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librosa</a:t>
            </a:r>
            <a:r>
              <a:rPr lang="en-GB" sz="1400" b="0" i="0" dirty="0">
                <a:solidFill>
                  <a:srgbClr val="2222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 0.10. 0. </a:t>
            </a:r>
            <a:r>
              <a:rPr lang="en-GB" sz="1400" b="0" i="1" dirty="0" err="1">
                <a:solidFill>
                  <a:srgbClr val="2222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zenodo</a:t>
            </a:r>
            <a:r>
              <a:rPr lang="en-GB" sz="1400" b="0" i="0" dirty="0">
                <a:solidFill>
                  <a:srgbClr val="2222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endParaRPr lang="en-US" sz="1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EF324B-E895-0C56-BA96-23BF6EA0CA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732" y="3063204"/>
            <a:ext cx="7772400" cy="213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164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6C25F-51FE-B694-ED1C-6F9359486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E27ED52-1F41-1E7D-2C0A-33ECBAF477F7}"/>
              </a:ext>
            </a:extLst>
          </p:cNvPr>
          <p:cNvSpPr txBox="1">
            <a:spLocks/>
          </p:cNvSpPr>
          <p:nvPr/>
        </p:nvSpPr>
        <p:spPr>
          <a:xfrm>
            <a:off x="561218" y="799214"/>
            <a:ext cx="8316968" cy="5830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Differentiable Karplus-Strong – how?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FD1BD0C-2620-8084-4E40-0629841F60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4383" y="1655954"/>
                <a:ext cx="10794351" cy="1523181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ea typeface="Cambria Math"/>
                  </a:rPr>
                  <a:t>Lastly, we need: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ea typeface="Cambria Math"/>
                  </a:rPr>
                  <a:t>an onset detector, to place noise bursts.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/>
                    </a:solidFill>
                    <a:ea typeface="Cambria Math"/>
                  </a:rPr>
                  <a:t>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𝑓</m:t>
                        </m:r>
                      </m:e>
                      <m:sub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ea typeface="Cambria Math"/>
                  </a:rPr>
                  <a:t> estimator, to define delay line length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𝐿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000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00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FD1BD0C-2620-8084-4E40-0629841F6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83" y="1655954"/>
                <a:ext cx="10794351" cy="1523181"/>
              </a:xfrm>
              <a:prstGeom prst="rect">
                <a:avLst/>
              </a:prstGeom>
              <a:blipFill>
                <a:blip r:embed="rId3"/>
                <a:stretch>
                  <a:fillRect l="-470" t="-4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E646B52-6715-43B0-D53B-3DA1FDE2FED1}"/>
              </a:ext>
            </a:extLst>
          </p:cNvPr>
          <p:cNvSpPr txBox="1"/>
          <p:nvPr/>
        </p:nvSpPr>
        <p:spPr>
          <a:xfrm>
            <a:off x="3860452" y="5836073"/>
            <a:ext cx="42280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0" i="0" dirty="0">
                <a:solidFill>
                  <a:srgbClr val="2222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McFee, B. et al. 2023. </a:t>
            </a:r>
            <a:r>
              <a:rPr lang="en-GB" sz="1400" b="0" i="0" dirty="0" err="1">
                <a:solidFill>
                  <a:srgbClr val="2222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librosa</a:t>
            </a:r>
            <a:r>
              <a:rPr lang="en-GB" sz="1400" b="0" i="0" dirty="0">
                <a:solidFill>
                  <a:srgbClr val="2222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lang="en-GB" sz="1400" b="0" i="0" dirty="0" err="1">
                <a:solidFill>
                  <a:srgbClr val="2222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librosa</a:t>
            </a:r>
            <a:r>
              <a:rPr lang="en-GB" sz="1400" b="0" i="0" dirty="0">
                <a:solidFill>
                  <a:srgbClr val="2222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 0.10. 0. </a:t>
            </a:r>
            <a:r>
              <a:rPr lang="en-GB" sz="1400" b="0" i="1" dirty="0" err="1">
                <a:solidFill>
                  <a:srgbClr val="2222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zenodo</a:t>
            </a:r>
            <a:r>
              <a:rPr lang="en-GB" sz="1400" b="0" i="0" dirty="0">
                <a:solidFill>
                  <a:srgbClr val="2222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endParaRPr lang="en-US" sz="1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4B299AC-B6F9-6DCE-F05D-A8D01C715E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732" y="3063204"/>
            <a:ext cx="7772400" cy="213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423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BE543-D9F8-FDBB-92F4-DD15CD796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D70F638-A26A-CC54-ADAD-2D89669830F8}"/>
              </a:ext>
            </a:extLst>
          </p:cNvPr>
          <p:cNvSpPr txBox="1">
            <a:spLocks/>
          </p:cNvSpPr>
          <p:nvPr/>
        </p:nvSpPr>
        <p:spPr>
          <a:xfrm>
            <a:off x="561218" y="799214"/>
            <a:ext cx="8316968" cy="5830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Differentiable Karplus-Strong – how?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F8F410-03AB-1341-FAA3-2D75E5CBFFA5}"/>
              </a:ext>
            </a:extLst>
          </p:cNvPr>
          <p:cNvSpPr txBox="1"/>
          <p:nvPr/>
        </p:nvSpPr>
        <p:spPr>
          <a:xfrm>
            <a:off x="2340686" y="5823667"/>
            <a:ext cx="7556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0" i="0" dirty="0">
                <a:solidFill>
                  <a:srgbClr val="2222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Engel, J. et al. 2017. Neural audio synthesis of musical notes with </a:t>
            </a:r>
            <a:r>
              <a:rPr lang="en-GB" sz="1400" b="0" i="0" dirty="0" err="1">
                <a:solidFill>
                  <a:srgbClr val="2222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wavenet</a:t>
            </a:r>
            <a:r>
              <a:rPr lang="en-GB" sz="1400" b="0" i="0" dirty="0">
                <a:solidFill>
                  <a:srgbClr val="2222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autoencoders. In </a:t>
            </a:r>
            <a:r>
              <a:rPr lang="en-GB" sz="1400" b="0" i="1" dirty="0">
                <a:solidFill>
                  <a:srgbClr val="2222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ICML</a:t>
            </a:r>
            <a:endParaRPr lang="en-US" sz="1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E158CE-8981-0E3D-04D6-BDE5DD2AAF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732" y="1590867"/>
            <a:ext cx="7772400" cy="2138842"/>
          </a:xfrm>
          <a:prstGeom prst="rect">
            <a:avLst/>
          </a:prstGeom>
        </p:spPr>
      </p:pic>
      <p:pic>
        <p:nvPicPr>
          <p:cNvPr id="3" name="download2">
            <a:hlinkClick r:id="" action="ppaction://media"/>
            <a:extLst>
              <a:ext uri="{FF2B5EF4-FFF2-40B4-BE49-F238E27FC236}">
                <a16:creationId xmlns:a16="http://schemas.microsoft.com/office/drawing/2014/main" id="{E73832CF-865C-C45E-2672-0254CF17CBA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445738" y="4379160"/>
            <a:ext cx="812800" cy="812800"/>
          </a:xfrm>
          <a:prstGeom prst="rect">
            <a:avLst/>
          </a:prstGeom>
        </p:spPr>
      </p:pic>
      <p:pic>
        <p:nvPicPr>
          <p:cNvPr id="4" name="test">
            <a:hlinkClick r:id="" action="ppaction://media"/>
            <a:extLst>
              <a:ext uri="{FF2B5EF4-FFF2-40B4-BE49-F238E27FC236}">
                <a16:creationId xmlns:a16="http://schemas.microsoft.com/office/drawing/2014/main" id="{F4827C1F-5F39-7F5A-F26D-EBBE3553CC5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752896" y="4379160"/>
            <a:ext cx="812800" cy="812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ABC01B-4528-507B-DCF2-8512C28838EA}"/>
              </a:ext>
            </a:extLst>
          </p:cNvPr>
          <p:cNvSpPr txBox="1"/>
          <p:nvPr/>
        </p:nvSpPr>
        <p:spPr>
          <a:xfrm>
            <a:off x="3289060" y="5191959"/>
            <a:ext cx="1740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Cambria" panose="02040503050406030204" pitchFamily="18" charset="0"/>
              </a:rPr>
              <a:t>Target (</a:t>
            </a:r>
            <a:r>
              <a:rPr lang="en-US" i="1" dirty="0" err="1">
                <a:latin typeface="Cambria" panose="02040503050406030204" pitchFamily="18" charset="0"/>
              </a:rPr>
              <a:t>Nsynth</a:t>
            </a:r>
            <a:r>
              <a:rPr lang="en-US" i="1" dirty="0">
                <a:latin typeface="Cambria" panose="02040503050406030204" pitchFamily="18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9D9A6E-41CC-AD7F-56B5-70199BB1367C}"/>
              </a:ext>
            </a:extLst>
          </p:cNvPr>
          <p:cNvSpPr txBox="1"/>
          <p:nvPr/>
        </p:nvSpPr>
        <p:spPr>
          <a:xfrm>
            <a:off x="7077056" y="5191959"/>
            <a:ext cx="1550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>
                <a:latin typeface="Cambria" panose="02040503050406030204" pitchFamily="18" charset="0"/>
              </a:rPr>
              <a:t>Reconstructed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29B19E70-110F-A018-1A69-3C9AEDBE9BD4}"/>
              </a:ext>
            </a:extLst>
          </p:cNvPr>
          <p:cNvSpPr/>
          <p:nvPr/>
        </p:nvSpPr>
        <p:spPr>
          <a:xfrm>
            <a:off x="5088358" y="4720347"/>
            <a:ext cx="2015284" cy="13042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5A01FB-1F73-C3D8-BE21-2F1903FF6618}"/>
              </a:ext>
            </a:extLst>
          </p:cNvPr>
          <p:cNvSpPr txBox="1"/>
          <p:nvPr/>
        </p:nvSpPr>
        <p:spPr>
          <a:xfrm>
            <a:off x="4399551" y="3899828"/>
            <a:ext cx="34387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C2F9D"/>
                </a:solidFill>
              </a:rPr>
              <a:t>* Only the </a:t>
            </a:r>
            <a:r>
              <a:rPr lang="en-US" sz="1400" dirty="0" err="1">
                <a:solidFill>
                  <a:srgbClr val="2C2F9D"/>
                </a:solidFill>
              </a:rPr>
              <a:t>coloured</a:t>
            </a:r>
            <a:r>
              <a:rPr lang="en-US" sz="1400" dirty="0">
                <a:solidFill>
                  <a:srgbClr val="2C2F9D"/>
                </a:solidFill>
              </a:rPr>
              <a:t> blocks are optimized.</a:t>
            </a:r>
          </a:p>
        </p:txBody>
      </p:sp>
    </p:spTree>
    <p:extLst>
      <p:ext uri="{BB962C8B-B14F-4D97-AF65-F5344CB8AC3E}">
        <p14:creationId xmlns:p14="http://schemas.microsoft.com/office/powerpoint/2010/main" val="97530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BE543-D9F8-FDBB-92F4-DD15CD796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D70F638-A26A-CC54-ADAD-2D89669830F8}"/>
              </a:ext>
            </a:extLst>
          </p:cNvPr>
          <p:cNvSpPr txBox="1">
            <a:spLocks/>
          </p:cNvSpPr>
          <p:nvPr/>
        </p:nvSpPr>
        <p:spPr>
          <a:xfrm>
            <a:off x="561218" y="799214"/>
            <a:ext cx="8316968" cy="5830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Differentiable Karplus-Strong – how?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F8F410-03AB-1341-FAA3-2D75E5CBFFA5}"/>
              </a:ext>
            </a:extLst>
          </p:cNvPr>
          <p:cNvSpPr txBox="1"/>
          <p:nvPr/>
        </p:nvSpPr>
        <p:spPr>
          <a:xfrm>
            <a:off x="2340686" y="5823667"/>
            <a:ext cx="7556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0" i="0" dirty="0">
                <a:solidFill>
                  <a:srgbClr val="2222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Engel, J. et al. 2017. Neural audio synthesis of musical notes with </a:t>
            </a:r>
            <a:r>
              <a:rPr lang="en-GB" sz="1400" b="0" i="0" dirty="0" err="1">
                <a:solidFill>
                  <a:srgbClr val="2222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wavenet</a:t>
            </a:r>
            <a:r>
              <a:rPr lang="en-GB" sz="1400" b="0" i="0" dirty="0">
                <a:solidFill>
                  <a:srgbClr val="2222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autoencoders. In </a:t>
            </a:r>
            <a:r>
              <a:rPr lang="en-GB" sz="1400" b="0" i="1" dirty="0">
                <a:solidFill>
                  <a:srgbClr val="2222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ICML</a:t>
            </a:r>
            <a:endParaRPr lang="en-US" sz="1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4" name="test">
            <a:hlinkClick r:id="" action="ppaction://media"/>
            <a:extLst>
              <a:ext uri="{FF2B5EF4-FFF2-40B4-BE49-F238E27FC236}">
                <a16:creationId xmlns:a16="http://schemas.microsoft.com/office/drawing/2014/main" id="{F4827C1F-5F39-7F5A-F26D-EBBE3553CC5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752896" y="4379160"/>
            <a:ext cx="812800" cy="812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ABC01B-4528-507B-DCF2-8512C28838EA}"/>
              </a:ext>
            </a:extLst>
          </p:cNvPr>
          <p:cNvSpPr txBox="1"/>
          <p:nvPr/>
        </p:nvSpPr>
        <p:spPr>
          <a:xfrm>
            <a:off x="3289060" y="5191959"/>
            <a:ext cx="1740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Cambria" panose="02040503050406030204" pitchFamily="18" charset="0"/>
              </a:rPr>
              <a:t>Target (</a:t>
            </a:r>
            <a:r>
              <a:rPr lang="en-US" i="1" dirty="0" err="1">
                <a:latin typeface="Cambria" panose="02040503050406030204" pitchFamily="18" charset="0"/>
              </a:rPr>
              <a:t>Nsynth</a:t>
            </a:r>
            <a:r>
              <a:rPr lang="en-US" i="1" dirty="0">
                <a:latin typeface="Cambria" panose="02040503050406030204" pitchFamily="18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9D9A6E-41CC-AD7F-56B5-70199BB1367C}"/>
              </a:ext>
            </a:extLst>
          </p:cNvPr>
          <p:cNvSpPr txBox="1"/>
          <p:nvPr/>
        </p:nvSpPr>
        <p:spPr>
          <a:xfrm>
            <a:off x="7077056" y="5191959"/>
            <a:ext cx="1550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>
                <a:latin typeface="Cambria" panose="02040503050406030204" pitchFamily="18" charset="0"/>
              </a:rPr>
              <a:t>Reconstructed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29B19E70-110F-A018-1A69-3C9AEDBE9BD4}"/>
              </a:ext>
            </a:extLst>
          </p:cNvPr>
          <p:cNvSpPr/>
          <p:nvPr/>
        </p:nvSpPr>
        <p:spPr>
          <a:xfrm>
            <a:off x="5088358" y="4720347"/>
            <a:ext cx="2015284" cy="13042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5A01FB-1F73-C3D8-BE21-2F1903FF6618}"/>
              </a:ext>
            </a:extLst>
          </p:cNvPr>
          <p:cNvSpPr txBox="1"/>
          <p:nvPr/>
        </p:nvSpPr>
        <p:spPr>
          <a:xfrm>
            <a:off x="4399551" y="3899827"/>
            <a:ext cx="34387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C2F9D"/>
                </a:solidFill>
              </a:rPr>
              <a:t>* Only the </a:t>
            </a:r>
            <a:r>
              <a:rPr lang="en-US" sz="1400" dirty="0" err="1">
                <a:solidFill>
                  <a:srgbClr val="2C2F9D"/>
                </a:solidFill>
              </a:rPr>
              <a:t>coloured</a:t>
            </a:r>
            <a:r>
              <a:rPr lang="en-US" sz="1400" dirty="0">
                <a:solidFill>
                  <a:srgbClr val="2C2F9D"/>
                </a:solidFill>
              </a:rPr>
              <a:t> blocks are optimized.</a:t>
            </a:r>
          </a:p>
        </p:txBody>
      </p:sp>
      <p:pic>
        <p:nvPicPr>
          <p:cNvPr id="6" name="download7">
            <a:hlinkClick r:id="" action="ppaction://media"/>
            <a:extLst>
              <a:ext uri="{FF2B5EF4-FFF2-40B4-BE49-F238E27FC236}">
                <a16:creationId xmlns:a16="http://schemas.microsoft.com/office/drawing/2014/main" id="{EE515757-842A-FDEA-C1A4-BA655641C9C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445740" y="4379160"/>
            <a:ext cx="812800" cy="812800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7890A3-4886-FFE6-8CF1-9EF32AA5B8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458774"/>
            <a:ext cx="7772400" cy="238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531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BE543-D9F8-FDBB-92F4-DD15CD796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B94F0AC-7039-B3F8-2A69-2B67E37D6C2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4383" y="1655954"/>
                <a:ext cx="10794351" cy="1523181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ea typeface="Cambria Math"/>
                  </a:rPr>
                  <a:t>Reconstruction task on acoustic Guitar subset of </a:t>
                </a:r>
                <a:r>
                  <a:rPr lang="en-US" sz="2000" dirty="0" err="1">
                    <a:ea typeface="Cambria Math"/>
                  </a:rPr>
                  <a:t>Nsynth</a:t>
                </a:r>
                <a:r>
                  <a:rPr lang="en-US" sz="2000" dirty="0">
                    <a:ea typeface="Cambria Math"/>
                  </a:rPr>
                  <a:t> (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ea typeface="Cambria Math"/>
                      </a:rPr>
                      <m:t>𝑁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/>
                      </a:rPr>
                      <m:t>=240</m:t>
                    </m:r>
                  </m:oMath>
                </a14:m>
                <a:r>
                  <a:rPr lang="en-US" sz="2000" dirty="0">
                    <a:ea typeface="Cambria Math"/>
                  </a:rPr>
                  <a:t>).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GB" sz="2000" dirty="0">
                    <a:solidFill>
                      <a:schemeClr val="tx1"/>
                    </a:solidFill>
                    <a:ea typeface="Cambria Math"/>
                  </a:rPr>
                  <a:t>Gradient Descent vs. Genetic Algorithm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GB" sz="2000" dirty="0">
                    <a:ea typeface="Cambria Math"/>
                  </a:rPr>
                  <a:t>We limit the Genetic Algorithm to </a:t>
                </a:r>
                <a:r>
                  <a:rPr lang="en-GB" sz="2000" i="1" dirty="0">
                    <a:ea typeface="Cambria Math"/>
                  </a:rPr>
                  <a:t>approx</a:t>
                </a:r>
                <a:r>
                  <a:rPr lang="en-GB" sz="2000" dirty="0">
                    <a:ea typeface="Cambria Math"/>
                  </a:rPr>
                  <a:t>. 10x more computationally expensive.</a:t>
                </a:r>
                <a:endParaRPr lang="en-US" sz="2000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00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B94F0AC-7039-B3F8-2A69-2B67E37D6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83" y="1655954"/>
                <a:ext cx="10794351" cy="1523181"/>
              </a:xfrm>
              <a:prstGeom prst="rect">
                <a:avLst/>
              </a:prstGeom>
              <a:blipFill>
                <a:blip r:embed="rId3"/>
                <a:stretch>
                  <a:fillRect t="-4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6D70F638-A26A-CC54-ADAD-2D89669830F8}"/>
              </a:ext>
            </a:extLst>
          </p:cNvPr>
          <p:cNvSpPr txBox="1">
            <a:spLocks/>
          </p:cNvSpPr>
          <p:nvPr/>
        </p:nvSpPr>
        <p:spPr>
          <a:xfrm>
            <a:off x="561218" y="799214"/>
            <a:ext cx="8316968" cy="5830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Experiment 1.</a:t>
            </a:r>
          </a:p>
        </p:txBody>
      </p:sp>
      <p:pic>
        <p:nvPicPr>
          <p:cNvPr id="11" name="Picture 10" descr="A black and white text with black text&#10;&#10;AI-generated content may be incorrect.">
            <a:extLst>
              <a:ext uri="{FF2B5EF4-FFF2-40B4-BE49-F238E27FC236}">
                <a16:creationId xmlns:a16="http://schemas.microsoft.com/office/drawing/2014/main" id="{C9D65849-341E-AD0B-6D8F-6237DAC0C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608" y="3162008"/>
            <a:ext cx="9772784" cy="190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830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90D98-98C0-3087-E8C2-65FF6385E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4B79D6A-2D52-8BAD-4448-F5C3F8D07CC7}"/>
              </a:ext>
            </a:extLst>
          </p:cNvPr>
          <p:cNvSpPr txBox="1">
            <a:spLocks/>
          </p:cNvSpPr>
          <p:nvPr/>
        </p:nvSpPr>
        <p:spPr>
          <a:xfrm>
            <a:off x="614383" y="4605979"/>
            <a:ext cx="10794351" cy="152318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ea typeface="Cambria Math"/>
              </a:rPr>
              <a:t>Karplus-Strong performs inconsistently across dynamics and pitches. </a:t>
            </a:r>
            <a:endParaRPr lang="en-US" sz="2000" dirty="0">
              <a:ea typeface="Cambria Math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ea typeface="Cambria Math"/>
              </a:rPr>
              <a:t>Worse at lower octaves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2000" dirty="0">
                <a:ea typeface="Cambria Math"/>
              </a:rPr>
              <a:t>Worse at higher dynamics</a:t>
            </a:r>
            <a:endParaRPr lang="en-US" sz="2000" dirty="0">
              <a:ea typeface="Cambria Math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>
              <a:ea typeface="Cambria Math" panose="02040503050406030204" pitchFamily="18" charset="0"/>
            </a:endParaRPr>
          </a:p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CA21EBB-2B27-C814-8CD1-FFDEA1D5126A}"/>
              </a:ext>
            </a:extLst>
          </p:cNvPr>
          <p:cNvSpPr txBox="1">
            <a:spLocks/>
          </p:cNvSpPr>
          <p:nvPr/>
        </p:nvSpPr>
        <p:spPr>
          <a:xfrm>
            <a:off x="561218" y="799214"/>
            <a:ext cx="8316968" cy="5830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Experiment 2.</a:t>
            </a:r>
          </a:p>
        </p:txBody>
      </p:sp>
      <p:pic>
        <p:nvPicPr>
          <p:cNvPr id="2" name="Picture 1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6E036953-92B0-014B-5BBC-A9CF59DB87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34"/>
          <a:stretch/>
        </p:blipFill>
        <p:spPr>
          <a:xfrm>
            <a:off x="2209800" y="1587863"/>
            <a:ext cx="7772400" cy="281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818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71616-BD7D-7D23-7F76-2CD8244DB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553277C-CCD2-4E1F-19FB-D7F2801EF594}"/>
              </a:ext>
            </a:extLst>
          </p:cNvPr>
          <p:cNvSpPr txBox="1">
            <a:spLocks/>
          </p:cNvSpPr>
          <p:nvPr/>
        </p:nvSpPr>
        <p:spPr>
          <a:xfrm>
            <a:off x="1066800" y="2133600"/>
            <a:ext cx="4880754" cy="3428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In acoustic guitars: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Inharmonicities and non-linearities are more prominent in the low end and at higher dynamics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Helmholtz and plate modes (guitar body) peak at 100 and 200 Hz.</a:t>
            </a:r>
          </a:p>
          <a:p>
            <a:r>
              <a:rPr lang="en-US" sz="2000" dirty="0"/>
              <a:t>But our Karplus-Strong Algorithm does not model any of these.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E7283C0-4A70-35F1-0542-7681C3C246D1}"/>
              </a:ext>
            </a:extLst>
          </p:cNvPr>
          <p:cNvSpPr txBox="1">
            <a:spLocks/>
          </p:cNvSpPr>
          <p:nvPr/>
        </p:nvSpPr>
        <p:spPr>
          <a:xfrm>
            <a:off x="1066800" y="1285336"/>
            <a:ext cx="4880754" cy="19050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en-US" sz="3400">
                <a:latin typeface="+mn-lt"/>
                <a:ea typeface="+mn-ea"/>
                <a:cs typeface="+mn-cs"/>
              </a:rPr>
              <a:t>Discussion</a:t>
            </a:r>
          </a:p>
        </p:txBody>
      </p:sp>
      <p:pic>
        <p:nvPicPr>
          <p:cNvPr id="3" name="Picture 2" descr="4.2 Acoustic resonators – Euphonics">
            <a:extLst>
              <a:ext uri="{FF2B5EF4-FFF2-40B4-BE49-F238E27FC236}">
                <a16:creationId xmlns:a16="http://schemas.microsoft.com/office/drawing/2014/main" id="{B845E46D-08AC-AB45-2122-2E3A687DF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3" r="2" b="2"/>
          <a:stretch>
            <a:fillRect/>
          </a:stretch>
        </p:blipFill>
        <p:spPr bwMode="auto">
          <a:xfrm>
            <a:off x="6527800" y="1285336"/>
            <a:ext cx="4428368" cy="3987261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E3A3CA-7405-A000-3FED-A4833B4DC621}"/>
              </a:ext>
            </a:extLst>
          </p:cNvPr>
          <p:cNvSpPr txBox="1"/>
          <p:nvPr/>
        </p:nvSpPr>
        <p:spPr>
          <a:xfrm>
            <a:off x="474133" y="5623466"/>
            <a:ext cx="112437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V. Välimäki and and T. </a:t>
            </a:r>
            <a:r>
              <a:rPr lang="en-US" sz="1400" dirty="0" err="1"/>
              <a:t>Tolonen</a:t>
            </a:r>
            <a:r>
              <a:rPr lang="en-US" sz="1400" dirty="0"/>
              <a:t>, 1998. “Development and Calibration of a Guitar Synthesizer,” in </a:t>
            </a:r>
            <a:r>
              <a:rPr lang="en-US" sz="1400" i="1" dirty="0"/>
              <a:t>JAES</a:t>
            </a:r>
            <a:r>
              <a:rPr lang="en-US" sz="1400" dirty="0"/>
              <a:t>.</a:t>
            </a:r>
            <a:r>
              <a:rPr lang="en-US" sz="1400" dirty="0">
                <a:ea typeface="Cambria Math" panose="02040503050406030204" pitchFamily="18" charset="0"/>
              </a:rPr>
              <a:t> </a:t>
            </a:r>
          </a:p>
          <a:p>
            <a:pPr algn="ctr"/>
            <a:r>
              <a:rPr lang="en-US" sz="1400" dirty="0">
                <a:ea typeface="Cambria Math" panose="02040503050406030204" pitchFamily="18" charset="0"/>
              </a:rPr>
              <a:t>J. S. Abel et al., 2010 “Robust, efficient design of </a:t>
            </a:r>
            <a:r>
              <a:rPr lang="en-US" sz="1400" dirty="0" err="1">
                <a:ea typeface="Cambria Math" panose="02040503050406030204" pitchFamily="18" charset="0"/>
              </a:rPr>
              <a:t>allpass</a:t>
            </a:r>
            <a:r>
              <a:rPr lang="en-US" sz="1400" dirty="0">
                <a:ea typeface="Cambria Math" panose="02040503050406030204" pitchFamily="18" charset="0"/>
              </a:rPr>
              <a:t> filters for dispersive string sound synthesis,” in </a:t>
            </a:r>
            <a:r>
              <a:rPr lang="en-US" sz="1400" i="1" dirty="0">
                <a:ea typeface="Cambria Math" panose="02040503050406030204" pitchFamily="18" charset="0"/>
              </a:rPr>
              <a:t>Signal Proc. Lett.</a:t>
            </a:r>
          </a:p>
          <a:p>
            <a:pPr algn="ctr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29602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6FD0F-5BB2-85D9-28AA-EC7A6D042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6DA23EC-0F92-090A-6966-42C739631E95}"/>
              </a:ext>
            </a:extLst>
          </p:cNvPr>
          <p:cNvSpPr txBox="1">
            <a:spLocks/>
          </p:cNvSpPr>
          <p:nvPr/>
        </p:nvSpPr>
        <p:spPr>
          <a:xfrm>
            <a:off x="1066800" y="2133600"/>
            <a:ext cx="4880754" cy="3428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We are also limited by our choice of: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onset detector;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It might double trigger,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or it might trigger late.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AF5E23A-643C-0E41-4417-7CC841BBFA39}"/>
              </a:ext>
            </a:extLst>
          </p:cNvPr>
          <p:cNvSpPr txBox="1">
            <a:spLocks/>
          </p:cNvSpPr>
          <p:nvPr/>
        </p:nvSpPr>
        <p:spPr>
          <a:xfrm>
            <a:off x="1066800" y="1285336"/>
            <a:ext cx="4880754" cy="19050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en-US" sz="3400" dirty="0">
                <a:latin typeface="+mn-lt"/>
                <a:ea typeface="+mn-ea"/>
                <a:cs typeface="+mn-cs"/>
              </a:rPr>
              <a:t>Discussion</a:t>
            </a:r>
          </a:p>
        </p:txBody>
      </p:sp>
      <p:pic>
        <p:nvPicPr>
          <p:cNvPr id="2" name="Picture 1" descr="A screen shot of a graph&#10;&#10;AI-generated content may be incorrect.">
            <a:extLst>
              <a:ext uri="{FF2B5EF4-FFF2-40B4-BE49-F238E27FC236}">
                <a16:creationId xmlns:a16="http://schemas.microsoft.com/office/drawing/2014/main" id="{60750F71-830C-9196-E23D-ED788E20A6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8377" y="788304"/>
            <a:ext cx="2910766" cy="52813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D33AAC-B19F-534F-C633-69C37C69F9B5}"/>
              </a:ext>
            </a:extLst>
          </p:cNvPr>
          <p:cNvSpPr txBox="1"/>
          <p:nvPr/>
        </p:nvSpPr>
        <p:spPr>
          <a:xfrm>
            <a:off x="6705600" y="38753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7" name="884d9b2c-e0d7-46c3-84c9-ba9d6514714a">
            <a:hlinkClick r:id="" action="ppaction://media"/>
            <a:extLst>
              <a:ext uri="{FF2B5EF4-FFF2-40B4-BE49-F238E27FC236}">
                <a16:creationId xmlns:a16="http://schemas.microsoft.com/office/drawing/2014/main" id="{93D09314-FEA7-B95C-346E-D1A475F95C3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236873" y="2043359"/>
            <a:ext cx="812800" cy="812800"/>
          </a:xfrm>
          <a:prstGeom prst="rect">
            <a:avLst/>
          </a:prstGeom>
        </p:spPr>
      </p:pic>
      <p:pic>
        <p:nvPicPr>
          <p:cNvPr id="8" name="c6a73491-1217-412f-bd77-078a0e6c0408">
            <a:hlinkClick r:id="" action="ppaction://media"/>
            <a:extLst>
              <a:ext uri="{FF2B5EF4-FFF2-40B4-BE49-F238E27FC236}">
                <a16:creationId xmlns:a16="http://schemas.microsoft.com/office/drawing/2014/main" id="{95E29645-C3CB-508F-6116-AFF1B5254AE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244448" y="3955515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855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6FD0F-5BB2-85D9-28AA-EC7A6D042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test1">
            <a:hlinkClick r:id="" action="ppaction://media"/>
            <a:extLst>
              <a:ext uri="{FF2B5EF4-FFF2-40B4-BE49-F238E27FC236}">
                <a16:creationId xmlns:a16="http://schemas.microsoft.com/office/drawing/2014/main" id="{C1BE0B5A-F9DE-E4BA-BF74-A76DD426943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244448" y="2043359"/>
            <a:ext cx="812800" cy="8128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6DA23EC-0F92-090A-6966-42C739631E9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66800" y="2133600"/>
                <a:ext cx="4880754" cy="34284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/>
                  <a:t>We are also limited by our choice of: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onset detector;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It might double trigger,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or it might trigger late.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 predictor;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 change of resonance might affect the pitch on spectrum.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6DA23EC-0F92-090A-6966-42C739631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133600"/>
                <a:ext cx="4880754" cy="3428471"/>
              </a:xfrm>
              <a:prstGeom prst="rect">
                <a:avLst/>
              </a:prstGeom>
              <a:blipFill>
                <a:blip r:embed="rId8"/>
                <a:stretch>
                  <a:fillRect l="-1299" t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0AF5E23A-643C-0E41-4417-7CC841BBFA39}"/>
              </a:ext>
            </a:extLst>
          </p:cNvPr>
          <p:cNvSpPr txBox="1">
            <a:spLocks/>
          </p:cNvSpPr>
          <p:nvPr/>
        </p:nvSpPr>
        <p:spPr>
          <a:xfrm>
            <a:off x="1066800" y="1285336"/>
            <a:ext cx="4880754" cy="19050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en-US" sz="3400" dirty="0">
                <a:latin typeface="+mn-lt"/>
                <a:ea typeface="+mn-ea"/>
                <a:cs typeface="+mn-cs"/>
              </a:rPr>
              <a:t>Discussion</a:t>
            </a:r>
          </a:p>
        </p:txBody>
      </p:sp>
      <p:pic>
        <p:nvPicPr>
          <p:cNvPr id="2" name="Picture 1" descr="A screen shot of a graph&#10;&#10;AI-generated content may be incorrect.">
            <a:extLst>
              <a:ext uri="{FF2B5EF4-FFF2-40B4-BE49-F238E27FC236}">
                <a16:creationId xmlns:a16="http://schemas.microsoft.com/office/drawing/2014/main" id="{60750F71-830C-9196-E23D-ED788E20A6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8377" y="788304"/>
            <a:ext cx="2910766" cy="52813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D33AAC-B19F-534F-C633-69C37C69F9B5}"/>
              </a:ext>
            </a:extLst>
          </p:cNvPr>
          <p:cNvSpPr txBox="1"/>
          <p:nvPr/>
        </p:nvSpPr>
        <p:spPr>
          <a:xfrm>
            <a:off x="6705600" y="38753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596C83-7971-9310-D1E9-7D3A75E518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51688" y="788303"/>
            <a:ext cx="2918341" cy="5276251"/>
          </a:xfrm>
          <a:prstGeom prst="rect">
            <a:avLst/>
          </a:prstGeom>
        </p:spPr>
      </p:pic>
      <p:pic>
        <p:nvPicPr>
          <p:cNvPr id="11" name="test2">
            <a:hlinkClick r:id="" action="ppaction://media"/>
            <a:extLst>
              <a:ext uri="{FF2B5EF4-FFF2-40B4-BE49-F238E27FC236}">
                <a16:creationId xmlns:a16="http://schemas.microsoft.com/office/drawing/2014/main" id="{2AFB1B92-A850-925B-3CC0-5EB2784716A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244448" y="3955515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052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0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6FD0F-5BB2-85D9-28AA-EC7A6D042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6DA23EC-0F92-090A-6966-42C739631E9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66800" y="2133600"/>
                <a:ext cx="9666514" cy="34284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sz="2000" dirty="0"/>
                  <a:t>Should address</a:t>
                </a:r>
                <a:r>
                  <a:rPr lang="en-US" sz="2000" dirty="0"/>
                  <a:t> two orthogonal sets of issues: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Reconstruction capacity of Karplus-Strong.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Embedding excitation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 in the neural network.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6DA23EC-0F92-090A-6966-42C739631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133600"/>
                <a:ext cx="9666514" cy="3428471"/>
              </a:xfrm>
              <a:prstGeom prst="rect">
                <a:avLst/>
              </a:prstGeom>
              <a:blipFill>
                <a:blip r:embed="rId3"/>
                <a:stretch>
                  <a:fillRect l="-656" t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0D9D8707-A68C-B838-FB88-243520BE9E2B}"/>
              </a:ext>
            </a:extLst>
          </p:cNvPr>
          <p:cNvSpPr txBox="1">
            <a:spLocks/>
          </p:cNvSpPr>
          <p:nvPr/>
        </p:nvSpPr>
        <p:spPr>
          <a:xfrm>
            <a:off x="1066800" y="1285336"/>
            <a:ext cx="4880754" cy="19050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en-US" sz="3400" dirty="0">
                <a:latin typeface="+mn-lt"/>
                <a:ea typeface="+mn-ea"/>
                <a:cs typeface="+mn-cs"/>
              </a:rPr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4084993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4B9CD-D96D-D385-4E44-47C15A647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83221B6-F280-1917-90BD-8690CB9CE142}"/>
              </a:ext>
            </a:extLst>
          </p:cNvPr>
          <p:cNvSpPr txBox="1">
            <a:spLocks/>
          </p:cNvSpPr>
          <p:nvPr/>
        </p:nvSpPr>
        <p:spPr>
          <a:xfrm>
            <a:off x="1066799" y="2144193"/>
            <a:ext cx="9666514" cy="3428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Cambria Math" panose="02040503050406030204" pitchFamily="18" charset="0"/>
              </a:rPr>
              <a:t>Parallel sections of warped IIRs have been proposed to model instrument bodies.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ea typeface="Cambria Math" panose="02040503050406030204" pitchFamily="18" charset="0"/>
              </a:rPr>
              <a:t>Allpass</a:t>
            </a:r>
            <a:r>
              <a:rPr lang="en-US" sz="2000" dirty="0">
                <a:ea typeface="Cambria Math" panose="02040503050406030204" pitchFamily="18" charset="0"/>
              </a:rPr>
              <a:t> filters in the loop can efficiently model inharmonicity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A495AF4-51FD-4EB1-2ED8-C8FD1F826660}"/>
              </a:ext>
            </a:extLst>
          </p:cNvPr>
          <p:cNvSpPr txBox="1">
            <a:spLocks/>
          </p:cNvSpPr>
          <p:nvPr/>
        </p:nvSpPr>
        <p:spPr>
          <a:xfrm>
            <a:off x="1066799" y="1285336"/>
            <a:ext cx="8708571" cy="19050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en-US" sz="3400" dirty="0">
                <a:latin typeface="+mn-lt"/>
                <a:ea typeface="+mn-ea"/>
                <a:cs typeface="+mn-cs"/>
              </a:rPr>
              <a:t>Future Work: </a:t>
            </a:r>
            <a:r>
              <a:rPr lang="en-US" sz="2400" dirty="0">
                <a:latin typeface="+mn-lt"/>
                <a:ea typeface="+mn-ea"/>
                <a:cs typeface="+mn-cs"/>
              </a:rPr>
              <a:t>Reconstruction Capacity</a:t>
            </a:r>
            <a:endParaRPr lang="en-US" sz="34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Picture 2" descr="A diagram of a flowchart&#10;&#10;AI-generated content may be incorrect.">
            <a:extLst>
              <a:ext uri="{FF2B5EF4-FFF2-40B4-BE49-F238E27FC236}">
                <a16:creationId xmlns:a16="http://schemas.microsoft.com/office/drawing/2014/main" id="{820E7EF5-9974-07C7-C566-C4CA19DCB5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3116901"/>
            <a:ext cx="7772400" cy="25186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08F8AC-DFDF-4649-3032-BAEB7C846211}"/>
              </a:ext>
            </a:extLst>
          </p:cNvPr>
          <p:cNvSpPr txBox="1"/>
          <p:nvPr/>
        </p:nvSpPr>
        <p:spPr>
          <a:xfrm>
            <a:off x="1056640" y="5635511"/>
            <a:ext cx="10078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ea typeface="Cambria Math" panose="02040503050406030204" pitchFamily="18" charset="0"/>
              </a:rPr>
              <a:t>B. Bank, 2007 “Direct design of parallel second-order filters for instrument body modeling,” in </a:t>
            </a:r>
            <a:r>
              <a:rPr lang="en-US" sz="1400" i="1" dirty="0">
                <a:ea typeface="Cambria Math" panose="02040503050406030204" pitchFamily="18" charset="0"/>
              </a:rPr>
              <a:t>ICMC</a:t>
            </a:r>
            <a:r>
              <a:rPr lang="en-US" sz="1400" dirty="0">
                <a:ea typeface="Cambria Math" panose="02040503050406030204" pitchFamily="18" charset="0"/>
              </a:rPr>
              <a:t>.</a:t>
            </a:r>
          </a:p>
          <a:p>
            <a:pPr algn="ctr"/>
            <a:r>
              <a:rPr lang="en-US" sz="1400" dirty="0">
                <a:ea typeface="Cambria Math" panose="02040503050406030204" pitchFamily="18" charset="0"/>
              </a:rPr>
              <a:t>J. S. Abel et al., 2010 “Robust, efficient design of </a:t>
            </a:r>
            <a:r>
              <a:rPr lang="en-US" sz="1400" dirty="0" err="1">
                <a:ea typeface="Cambria Math" panose="02040503050406030204" pitchFamily="18" charset="0"/>
              </a:rPr>
              <a:t>allpass</a:t>
            </a:r>
            <a:r>
              <a:rPr lang="en-US" sz="1400" dirty="0">
                <a:ea typeface="Cambria Math" panose="02040503050406030204" pitchFamily="18" charset="0"/>
              </a:rPr>
              <a:t> filters for dispersive string sound synthesis,” in </a:t>
            </a:r>
            <a:r>
              <a:rPr lang="en-US" sz="1400" i="1" dirty="0">
                <a:ea typeface="Cambria Math" panose="02040503050406030204" pitchFamily="18" charset="0"/>
              </a:rPr>
              <a:t>Signal Proc. Lett.</a:t>
            </a:r>
          </a:p>
        </p:txBody>
      </p:sp>
      <p:pic>
        <p:nvPicPr>
          <p:cNvPr id="10" name="ks_inharmonic">
            <a:hlinkClick r:id="" action="ppaction://media"/>
            <a:extLst>
              <a:ext uri="{FF2B5EF4-FFF2-40B4-BE49-F238E27FC236}">
                <a16:creationId xmlns:a16="http://schemas.microsoft.com/office/drawing/2014/main" id="{DFE0D36E-CE12-45CC-87F1-62FF99AD95E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45887" y="3600126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11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08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4B9CD-D96D-D385-4E44-47C15A647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83221B6-F280-1917-90BD-8690CB9CE14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66800" y="2133600"/>
                <a:ext cx="9666514" cy="34284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ea typeface="Cambria Math" panose="02040503050406030204" pitchFamily="18" charset="0"/>
                  </a:rPr>
                  <a:t>DDSP can use parameter losses (MAE on parameter sets) on synthetic data.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ea typeface="Cambria Math" panose="02040503050406030204" pitchFamily="18" charset="0"/>
                  </a:rPr>
                  <a:t>The neural network could firstly be trained on parameter losses to obtain: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ea typeface="Cambria Math" panose="02040503050406030204" pitchFamily="18" charset="0"/>
                  </a:rPr>
                  <a:t>Excitation times,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ea typeface="Cambria Math" panose="02040503050406030204" pitchFamily="18" charset="0"/>
                  </a:rPr>
                  <a:t>Alternatively, we could fine-tune neural networks for onset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GB" sz="2000" b="0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ea typeface="Cambria Math" panose="02040503050406030204" pitchFamily="18" charset="0"/>
                  </a:rPr>
                  <a:t>One problem arises, our delay line length is not differentiable (gray-box).</a:t>
                </a: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83221B6-F280-1917-90BD-8690CB9CE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133600"/>
                <a:ext cx="9666514" cy="3428471"/>
              </a:xfrm>
              <a:prstGeom prst="rect">
                <a:avLst/>
              </a:prstGeom>
              <a:blipFill>
                <a:blip r:embed="rId3"/>
                <a:stretch>
                  <a:fillRect l="-525" t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9A495AF4-51FD-4EB1-2ED8-C8FD1F82666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66799" y="1285336"/>
                <a:ext cx="8708571" cy="190500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8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spcBef>
                    <a:spcPts val="1000"/>
                  </a:spcBef>
                </a:pPr>
                <a:r>
                  <a:rPr lang="en-US" sz="3400" dirty="0">
                    <a:latin typeface="+mn-lt"/>
                    <a:ea typeface="+mn-ea"/>
                    <a:cs typeface="+mn-cs"/>
                  </a:rPr>
                  <a:t>Future Work: </a:t>
                </a:r>
                <a:r>
                  <a:rPr lang="en-US" sz="2400" dirty="0">
                    <a:latin typeface="+mn-lt"/>
                    <a:ea typeface="+mn-ea"/>
                    <a:cs typeface="+mn-cs"/>
                  </a:rPr>
                  <a:t>Embedding excitation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endParaRPr lang="en-US" sz="3400" dirty="0">
                  <a:latin typeface="+mn-lt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9A495AF4-51FD-4EB1-2ED8-C8FD1F826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799" y="1285336"/>
                <a:ext cx="8708571" cy="1905005"/>
              </a:xfrm>
              <a:prstGeom prst="rect">
                <a:avLst/>
              </a:prstGeom>
              <a:blipFill>
                <a:blip r:embed="rId4"/>
                <a:stretch>
                  <a:fillRect l="-2041" t="-72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20B58BE-CBC5-ACDE-251A-7B9CE86ADA56}"/>
              </a:ext>
            </a:extLst>
          </p:cNvPr>
          <p:cNvSpPr txBox="1"/>
          <p:nvPr/>
        </p:nvSpPr>
        <p:spPr>
          <a:xfrm>
            <a:off x="745067" y="5395939"/>
            <a:ext cx="107018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0" i="0" dirty="0">
                <a:solidFill>
                  <a:srgbClr val="222222"/>
                </a:solidFill>
                <a:effectLst/>
              </a:rPr>
              <a:t>Engel, J. et al., 2020. Self-supervised pitch detection by inverse audio synthesis. In </a:t>
            </a:r>
            <a:r>
              <a:rPr lang="en-GB" sz="1400" b="0" i="1" dirty="0">
                <a:solidFill>
                  <a:srgbClr val="222222"/>
                </a:solidFill>
                <a:effectLst/>
              </a:rPr>
              <a:t>ICML</a:t>
            </a:r>
          </a:p>
          <a:p>
            <a:pPr algn="ctr"/>
            <a:r>
              <a:rPr lang="en-GB" sz="1400" b="0" i="0" dirty="0">
                <a:solidFill>
                  <a:srgbClr val="222222"/>
                </a:solidFill>
                <a:effectLst/>
              </a:rPr>
              <a:t>Masuda, N. and Saito, D., 2023. Improving semi-supervised differentiable synthesizer sound matching. </a:t>
            </a:r>
            <a:r>
              <a:rPr lang="en-GB" sz="1400" b="0" dirty="0">
                <a:solidFill>
                  <a:srgbClr val="222222"/>
                </a:solidFill>
                <a:effectLst/>
              </a:rPr>
              <a:t>In</a:t>
            </a:r>
            <a:r>
              <a:rPr lang="en-GB" sz="1400" b="0" i="1" dirty="0">
                <a:solidFill>
                  <a:srgbClr val="222222"/>
                </a:solidFill>
                <a:effectLst/>
              </a:rPr>
              <a:t> TASLP</a:t>
            </a:r>
          </a:p>
          <a:p>
            <a:pPr algn="ctr"/>
            <a:r>
              <a:rPr lang="en-GB" sz="1400" b="0" i="0" dirty="0">
                <a:solidFill>
                  <a:srgbClr val="222222"/>
                </a:solidFill>
                <a:effectLst/>
              </a:rPr>
              <a:t>Han, H. </a:t>
            </a:r>
            <a:r>
              <a:rPr lang="en-GB" sz="1400" b="0" i="0" dirty="0" err="1">
                <a:solidFill>
                  <a:srgbClr val="222222"/>
                </a:solidFill>
                <a:effectLst/>
              </a:rPr>
              <a:t>Lostanlen</a:t>
            </a:r>
            <a:r>
              <a:rPr lang="en-GB" sz="1400" b="0" i="0" dirty="0">
                <a:solidFill>
                  <a:srgbClr val="222222"/>
                </a:solidFill>
                <a:effectLst/>
              </a:rPr>
              <a:t>, V., Lagrange, M., 2024 Learning to solve inverse problems for perceptual sound matching. In </a:t>
            </a:r>
            <a:r>
              <a:rPr lang="en-GB" sz="1400" b="0" i="1" dirty="0">
                <a:solidFill>
                  <a:srgbClr val="222222"/>
                </a:solidFill>
                <a:effectLst/>
              </a:rPr>
              <a:t>TASLP</a:t>
            </a:r>
          </a:p>
        </p:txBody>
      </p:sp>
    </p:spTree>
    <p:extLst>
      <p:ext uri="{BB962C8B-B14F-4D97-AF65-F5344CB8AC3E}">
        <p14:creationId xmlns:p14="http://schemas.microsoft.com/office/powerpoint/2010/main" val="24958412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D0ABC-7050-C42C-1E5A-EEF950B5F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24A4AD3-534B-2A6C-F5EB-7E0D7D92D423}"/>
              </a:ext>
            </a:extLst>
          </p:cNvPr>
          <p:cNvSpPr txBox="1">
            <a:spLocks/>
          </p:cNvSpPr>
          <p:nvPr/>
        </p:nvSpPr>
        <p:spPr>
          <a:xfrm>
            <a:off x="1066800" y="2133600"/>
            <a:ext cx="9666514" cy="3428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ea typeface="+mn-ea"/>
                <a:cs typeface="+mn-cs"/>
              </a:rPr>
              <a:t>A time-domain time-variant differentiable implementation for an extended Karplus-Strong Algorithm.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ea typeface="+mn-ea"/>
                <a:cs typeface="+mn-cs"/>
              </a:rPr>
              <a:t>We found that extensions are needed to consistently model the full dynamic and pitch range of the guitar.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We observed onset and fundamental frequency predictors can limit timbre-transfer tasks.</a:t>
            </a:r>
            <a:endParaRPr lang="en-US" sz="2000" dirty="0">
              <a:latin typeface="+mn-lt"/>
              <a:ea typeface="+mn-ea"/>
              <a:cs typeface="+mn-cs"/>
            </a:endParaRPr>
          </a:p>
          <a:p>
            <a:pPr marL="457200" indent="-4572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+mn-lt"/>
              <a:ea typeface="+mn-ea"/>
              <a:cs typeface="+mn-cs"/>
            </a:endParaRPr>
          </a:p>
          <a:p>
            <a:pPr marL="457200" indent="-4572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+mn-lt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2373001-FF1C-0783-E50D-72123BBC97F5}"/>
              </a:ext>
            </a:extLst>
          </p:cNvPr>
          <p:cNvSpPr txBox="1">
            <a:spLocks/>
          </p:cNvSpPr>
          <p:nvPr/>
        </p:nvSpPr>
        <p:spPr>
          <a:xfrm>
            <a:off x="1066799" y="1285336"/>
            <a:ext cx="8708571" cy="19050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en-GB" sz="3400" dirty="0">
                <a:latin typeface="+mn-lt"/>
                <a:ea typeface="+mn-ea"/>
                <a:cs typeface="+mn-cs"/>
              </a:rPr>
              <a:t>Contributions</a:t>
            </a:r>
            <a:endParaRPr lang="en-US" sz="34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95501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884FD-3515-B011-7755-DC60E191A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CDEA3D-E062-4926-7AB6-050D045CDD4C}"/>
              </a:ext>
            </a:extLst>
          </p:cNvPr>
          <p:cNvSpPr/>
          <p:nvPr/>
        </p:nvSpPr>
        <p:spPr>
          <a:xfrm>
            <a:off x="6868238" y="2178108"/>
            <a:ext cx="2472870" cy="2501781"/>
          </a:xfrm>
          <a:prstGeom prst="rect">
            <a:avLst/>
          </a:prstGeom>
          <a:solidFill>
            <a:srgbClr val="2C2F9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QR Code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C467DC-8B33-5318-5292-D46817490638}"/>
              </a:ext>
            </a:extLst>
          </p:cNvPr>
          <p:cNvSpPr txBox="1">
            <a:spLocks/>
          </p:cNvSpPr>
          <p:nvPr/>
        </p:nvSpPr>
        <p:spPr>
          <a:xfrm>
            <a:off x="2850892" y="1026681"/>
            <a:ext cx="6490216" cy="54904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/>
              <a:t>Questions?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87C43C1-E46E-7C60-E867-EED7231D8054}"/>
              </a:ext>
            </a:extLst>
          </p:cNvPr>
          <p:cNvSpPr txBox="1">
            <a:spLocks/>
          </p:cNvSpPr>
          <p:nvPr/>
        </p:nvSpPr>
        <p:spPr>
          <a:xfrm>
            <a:off x="2327485" y="4820242"/>
            <a:ext cx="3519684" cy="86435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Audio examples, presentation, paper, tutorials &amp; code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82B016-AE8F-DD63-23B0-08AFECE5598B}"/>
              </a:ext>
            </a:extLst>
          </p:cNvPr>
          <p:cNvSpPr/>
          <p:nvPr/>
        </p:nvSpPr>
        <p:spPr>
          <a:xfrm>
            <a:off x="2850892" y="2176513"/>
            <a:ext cx="2472870" cy="2501781"/>
          </a:xfrm>
          <a:prstGeom prst="rect">
            <a:avLst/>
          </a:prstGeom>
          <a:solidFill>
            <a:srgbClr val="2C2F9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QR Code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A7D0DD8-122C-008C-A086-F9CD5BFBB9F8}"/>
              </a:ext>
            </a:extLst>
          </p:cNvPr>
          <p:cNvSpPr txBox="1">
            <a:spLocks/>
          </p:cNvSpPr>
          <p:nvPr/>
        </p:nvSpPr>
        <p:spPr>
          <a:xfrm>
            <a:off x="6344831" y="4820242"/>
            <a:ext cx="3519684" cy="86435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Let’s connect on</a:t>
            </a:r>
          </a:p>
          <a:p>
            <a:pPr algn="ctr"/>
            <a:r>
              <a:rPr lang="en-US" sz="2000" dirty="0" err="1"/>
              <a:t>Linkedin</a:t>
            </a:r>
            <a:r>
              <a:rPr lang="en-US" sz="2000" dirty="0"/>
              <a:t>!</a:t>
            </a:r>
          </a:p>
        </p:txBody>
      </p:sp>
      <p:pic>
        <p:nvPicPr>
          <p:cNvPr id="14" name="Picture 13" descr="A qr code with a circle in the center&#10;&#10;AI-generated content may be incorrect.">
            <a:extLst>
              <a:ext uri="{FF2B5EF4-FFF2-40B4-BE49-F238E27FC236}">
                <a16:creationId xmlns:a16="http://schemas.microsoft.com/office/drawing/2014/main" id="{2A94032E-E7F1-908D-FEBE-52BE159F61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789" y="2318461"/>
            <a:ext cx="2221077" cy="2221077"/>
          </a:xfrm>
          <a:prstGeom prst="rect">
            <a:avLst/>
          </a:prstGeom>
        </p:spPr>
      </p:pic>
      <p:pic>
        <p:nvPicPr>
          <p:cNvPr id="16" name="Picture 15" descr="A qr code with a logo&#10;&#10;AI-generated content may be incorrect.">
            <a:extLst>
              <a:ext uri="{FF2B5EF4-FFF2-40B4-BE49-F238E27FC236}">
                <a16:creationId xmlns:a16="http://schemas.microsoft.com/office/drawing/2014/main" id="{3C9BF7AC-BF0C-D2AA-DB34-FE7FEC8152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4135" y="2318461"/>
            <a:ext cx="2221077" cy="222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1425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Theme">
  <a:themeElements>
    <a:clrScheme name="Media Arts Technology">
      <a:dk1>
        <a:sysClr val="windowText" lastClr="000000"/>
      </a:dk1>
      <a:lt1>
        <a:sysClr val="window" lastClr="FFFFFF"/>
      </a:lt1>
      <a:dk2>
        <a:srgbClr val="9D9D9C"/>
      </a:dk2>
      <a:lt2>
        <a:srgbClr val="DADADA"/>
      </a:lt2>
      <a:accent1>
        <a:srgbClr val="575756"/>
      </a:accent1>
      <a:accent2>
        <a:srgbClr val="00BCFF"/>
      </a:accent2>
      <a:accent3>
        <a:srgbClr val="E6FF00"/>
      </a:accent3>
      <a:accent4>
        <a:srgbClr val="FF6F54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A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/>
          <a:srcRect/>
          <a:stretch>
            <a:fillRect l="-19296" t="-873" r="-18450" b="-251"/>
          </a:stretch>
        </a:blip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2731</TotalTime>
  <Words>1571</Words>
  <Application>Microsoft Macintosh PowerPoint</Application>
  <PresentationFormat>Widescreen</PresentationFormat>
  <Paragraphs>182</Paragraphs>
  <Slides>26</Slides>
  <Notes>25</Notes>
  <HiddenSlides>0</HiddenSlides>
  <MMClips>13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Cambria</vt:lpstr>
      <vt:lpstr>Cambria Math</vt:lpstr>
      <vt:lpstr>Office Theme</vt:lpstr>
      <vt:lpstr>Custom Design</vt:lpstr>
      <vt:lpstr>Differentiable Karplus-Strong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matthew leech</dc:creator>
  <cp:lastModifiedBy>Pablo Tablas De Paula</cp:lastModifiedBy>
  <cp:revision>184</cp:revision>
  <dcterms:created xsi:type="dcterms:W3CDTF">2016-11-10T08:58:23Z</dcterms:created>
  <dcterms:modified xsi:type="dcterms:W3CDTF">2025-12-15T20:33:43Z</dcterms:modified>
</cp:coreProperties>
</file>